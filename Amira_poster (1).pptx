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7" r:id="rId5"/>
  </p:sldIdLst>
  <p:sldSz cx="36009263" cy="2880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7894"/>
    <a:srgbClr val="EBB5CD"/>
    <a:srgbClr val="7F234D"/>
    <a:srgbClr val="9A2A5D"/>
    <a:srgbClr val="F9EDED"/>
    <a:srgbClr val="F3D9D9"/>
    <a:srgbClr val="EEC8C8"/>
    <a:srgbClr val="F5DFDF"/>
    <a:srgbClr val="F1CBDC"/>
    <a:srgbClr val="EBB3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4C456C-BFF4-472C-9822-D4BD7FA767D8}" v="27" dt="2026-07-31T18:01:47.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p:scale>
          <a:sx n="25" d="100"/>
          <a:sy n="25" d="100"/>
        </p:scale>
        <p:origin x="1027" y="-403"/>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EDEAC-9629-400F-BF31-5E4BEBC87C4B}" type="datetimeFigureOut">
              <a:rPr lang="en-US" smtClean="0"/>
              <a:t>7/31/2026</a:t>
            </a:fld>
            <a:endParaRPr lang="en-US"/>
          </a:p>
        </p:txBody>
      </p:sp>
      <p:sp>
        <p:nvSpPr>
          <p:cNvPr id="4" name="Slide Image Placeholder 3"/>
          <p:cNvSpPr>
            <a:spLocks noGrp="1" noRot="1" noChangeAspect="1"/>
          </p:cNvSpPr>
          <p:nvPr>
            <p:ph type="sldImg" idx="2"/>
          </p:nvPr>
        </p:nvSpPr>
        <p:spPr>
          <a:xfrm>
            <a:off x="1500188" y="1143000"/>
            <a:ext cx="3857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86BCEE-62B1-44EC-A6BC-DC317A22B11F}" type="slidenum">
              <a:rPr lang="en-US" smtClean="0"/>
              <a:t>‹#›</a:t>
            </a:fld>
            <a:endParaRPr lang="en-US"/>
          </a:p>
        </p:txBody>
      </p:sp>
    </p:spTree>
    <p:extLst>
      <p:ext uri="{BB962C8B-B14F-4D97-AF65-F5344CB8AC3E}">
        <p14:creationId xmlns:p14="http://schemas.microsoft.com/office/powerpoint/2010/main" val="3623093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86BCEE-62B1-44EC-A6BC-DC317A22B11F}" type="slidenum">
              <a:rPr lang="en-US" smtClean="0"/>
              <a:t>1</a:t>
            </a:fld>
            <a:endParaRPr lang="en-US"/>
          </a:p>
        </p:txBody>
      </p:sp>
    </p:spTree>
    <p:extLst>
      <p:ext uri="{BB962C8B-B14F-4D97-AF65-F5344CB8AC3E}">
        <p14:creationId xmlns:p14="http://schemas.microsoft.com/office/powerpoint/2010/main" val="1022187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00695" y="4713925"/>
            <a:ext cx="30607874" cy="10027920"/>
          </a:xfrm>
        </p:spPr>
        <p:txBody>
          <a:bodyPr anchor="b"/>
          <a:lstStyle>
            <a:lvl1pPr algn="ctr">
              <a:defRPr sz="23628"/>
            </a:lvl1pPr>
          </a:lstStyle>
          <a:p>
            <a:r>
              <a:rPr lang="en-US"/>
              <a:t>Click to edit Master title style</a:t>
            </a:r>
            <a:endParaRPr lang="en-US" dirty="0"/>
          </a:p>
        </p:txBody>
      </p:sp>
      <p:sp>
        <p:nvSpPr>
          <p:cNvPr id="3" name="Subtitle 2"/>
          <p:cNvSpPr>
            <a:spLocks noGrp="1"/>
          </p:cNvSpPr>
          <p:nvPr>
            <p:ph type="subTitle" idx="1"/>
          </p:nvPr>
        </p:nvSpPr>
        <p:spPr>
          <a:xfrm>
            <a:off x="4501158" y="15128560"/>
            <a:ext cx="27006947" cy="6954200"/>
          </a:xfrm>
        </p:spPr>
        <p:txBody>
          <a:bodyPr/>
          <a:lstStyle>
            <a:lvl1pPr marL="0" indent="0" algn="ctr">
              <a:buNone/>
              <a:defRPr sz="9451"/>
            </a:lvl1pPr>
            <a:lvl2pPr marL="1800454" indent="0" algn="ctr">
              <a:buNone/>
              <a:defRPr sz="7876"/>
            </a:lvl2pPr>
            <a:lvl3pPr marL="3600907" indent="0" algn="ctr">
              <a:buNone/>
              <a:defRPr sz="7088"/>
            </a:lvl3pPr>
            <a:lvl4pPr marL="5401361" indent="0" algn="ctr">
              <a:buNone/>
              <a:defRPr sz="6301"/>
            </a:lvl4pPr>
            <a:lvl5pPr marL="7201814" indent="0" algn="ctr">
              <a:buNone/>
              <a:defRPr sz="6301"/>
            </a:lvl5pPr>
            <a:lvl6pPr marL="9002268" indent="0" algn="ctr">
              <a:buNone/>
              <a:defRPr sz="6301"/>
            </a:lvl6pPr>
            <a:lvl7pPr marL="10802722" indent="0" algn="ctr">
              <a:buNone/>
              <a:defRPr sz="6301"/>
            </a:lvl7pPr>
            <a:lvl8pPr marL="12603175" indent="0" algn="ctr">
              <a:buNone/>
              <a:defRPr sz="6301"/>
            </a:lvl8pPr>
            <a:lvl9pPr marL="14403629" indent="0" algn="ctr">
              <a:buNone/>
              <a:defRPr sz="630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631514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40708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884" y="7180906"/>
            <a:ext cx="31057989" cy="11981495"/>
          </a:xfrm>
        </p:spPr>
        <p:txBody>
          <a:bodyPr anchor="b"/>
          <a:lstStyle>
            <a:lvl1pPr>
              <a:defRPr sz="23628"/>
            </a:lvl1pPr>
          </a:lstStyle>
          <a:p>
            <a:r>
              <a:rPr lang="en-US"/>
              <a:t>Click to edit Master title style</a:t>
            </a:r>
            <a:endParaRPr lang="en-US" dirty="0"/>
          </a:p>
        </p:txBody>
      </p:sp>
      <p:sp>
        <p:nvSpPr>
          <p:cNvPr id="3" name="Text Placeholder 2"/>
          <p:cNvSpPr>
            <a:spLocks noGrp="1"/>
          </p:cNvSpPr>
          <p:nvPr>
            <p:ph type="body" idx="1"/>
          </p:nvPr>
        </p:nvSpPr>
        <p:spPr>
          <a:xfrm>
            <a:off x="2456884" y="19275751"/>
            <a:ext cx="31057989" cy="6300785"/>
          </a:xfrm>
        </p:spPr>
        <p:txBody>
          <a:bodyPr/>
          <a:lstStyle>
            <a:lvl1pPr marL="0" indent="0">
              <a:buNone/>
              <a:defRPr sz="9451">
                <a:solidFill>
                  <a:schemeClr val="tx1">
                    <a:tint val="82000"/>
                  </a:schemeClr>
                </a:solidFill>
              </a:defRPr>
            </a:lvl1pPr>
            <a:lvl2pPr marL="1800454" indent="0">
              <a:buNone/>
              <a:defRPr sz="7876">
                <a:solidFill>
                  <a:schemeClr val="tx1">
                    <a:tint val="82000"/>
                  </a:schemeClr>
                </a:solidFill>
              </a:defRPr>
            </a:lvl2pPr>
            <a:lvl3pPr marL="3600907" indent="0">
              <a:buNone/>
              <a:defRPr sz="7088">
                <a:solidFill>
                  <a:schemeClr val="tx1">
                    <a:tint val="82000"/>
                  </a:schemeClr>
                </a:solidFill>
              </a:defRPr>
            </a:lvl3pPr>
            <a:lvl4pPr marL="5401361" indent="0">
              <a:buNone/>
              <a:defRPr sz="6301">
                <a:solidFill>
                  <a:schemeClr val="tx1">
                    <a:tint val="82000"/>
                  </a:schemeClr>
                </a:solidFill>
              </a:defRPr>
            </a:lvl4pPr>
            <a:lvl5pPr marL="7201814" indent="0">
              <a:buNone/>
              <a:defRPr sz="6301">
                <a:solidFill>
                  <a:schemeClr val="tx1">
                    <a:tint val="82000"/>
                  </a:schemeClr>
                </a:solidFill>
              </a:defRPr>
            </a:lvl5pPr>
            <a:lvl6pPr marL="9002268" indent="0">
              <a:buNone/>
              <a:defRPr sz="6301">
                <a:solidFill>
                  <a:schemeClr val="tx1">
                    <a:tint val="82000"/>
                  </a:schemeClr>
                </a:solidFill>
              </a:defRPr>
            </a:lvl6pPr>
            <a:lvl7pPr marL="10802722" indent="0">
              <a:buNone/>
              <a:defRPr sz="6301">
                <a:solidFill>
                  <a:schemeClr val="tx1">
                    <a:tint val="82000"/>
                  </a:schemeClr>
                </a:solidFill>
              </a:defRPr>
            </a:lvl7pPr>
            <a:lvl8pPr marL="12603175" indent="0">
              <a:buNone/>
              <a:defRPr sz="6301">
                <a:solidFill>
                  <a:schemeClr val="tx1">
                    <a:tint val="82000"/>
                  </a:schemeClr>
                </a:solidFill>
              </a:defRPr>
            </a:lvl8pPr>
            <a:lvl9pPr marL="14403629" indent="0">
              <a:buNone/>
              <a:defRPr sz="630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B115AA-3CF4-4CCC-BDEB-11DA19717EFB}"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2190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75637" y="7667625"/>
            <a:ext cx="15303937"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229689" y="7667625"/>
            <a:ext cx="15303937" cy="182756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B115AA-3CF4-4CCC-BDEB-11DA19717EFB}"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490906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533531"/>
            <a:ext cx="31057989" cy="556736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480331" y="7060885"/>
            <a:ext cx="15233604" cy="3460430"/>
          </a:xfrm>
        </p:spPr>
        <p:txBody>
          <a:bodyPr anchor="b"/>
          <a:lstStyle>
            <a:lvl1pPr marL="0" indent="0">
              <a:buNone/>
              <a:defRPr sz="9451" b="1"/>
            </a:lvl1pPr>
            <a:lvl2pPr marL="1800454" indent="0">
              <a:buNone/>
              <a:defRPr sz="7876" b="1"/>
            </a:lvl2pPr>
            <a:lvl3pPr marL="3600907" indent="0">
              <a:buNone/>
              <a:defRPr sz="7088" b="1"/>
            </a:lvl3pPr>
            <a:lvl4pPr marL="5401361" indent="0">
              <a:buNone/>
              <a:defRPr sz="6301" b="1"/>
            </a:lvl4pPr>
            <a:lvl5pPr marL="7201814" indent="0">
              <a:buNone/>
              <a:defRPr sz="6301" b="1"/>
            </a:lvl5pPr>
            <a:lvl6pPr marL="9002268" indent="0">
              <a:buNone/>
              <a:defRPr sz="6301" b="1"/>
            </a:lvl6pPr>
            <a:lvl7pPr marL="10802722" indent="0">
              <a:buNone/>
              <a:defRPr sz="6301" b="1"/>
            </a:lvl7pPr>
            <a:lvl8pPr marL="12603175" indent="0">
              <a:buNone/>
              <a:defRPr sz="6301" b="1"/>
            </a:lvl8pPr>
            <a:lvl9pPr marL="14403629" indent="0">
              <a:buNone/>
              <a:defRPr sz="6301" b="1"/>
            </a:lvl9pPr>
          </a:lstStyle>
          <a:p>
            <a:pPr lvl="0"/>
            <a:r>
              <a:rPr lang="en-US"/>
              <a:t>Click to edit Master text styles</a:t>
            </a:r>
          </a:p>
        </p:txBody>
      </p:sp>
      <p:sp>
        <p:nvSpPr>
          <p:cNvPr id="4" name="Content Placeholder 3"/>
          <p:cNvSpPr>
            <a:spLocks noGrp="1"/>
          </p:cNvSpPr>
          <p:nvPr>
            <p:ph sz="half" idx="2"/>
          </p:nvPr>
        </p:nvSpPr>
        <p:spPr>
          <a:xfrm>
            <a:off x="2480331" y="10521315"/>
            <a:ext cx="15233604"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229691" y="7060885"/>
            <a:ext cx="15308627" cy="3460430"/>
          </a:xfrm>
        </p:spPr>
        <p:txBody>
          <a:bodyPr anchor="b"/>
          <a:lstStyle>
            <a:lvl1pPr marL="0" indent="0">
              <a:buNone/>
              <a:defRPr sz="9451" b="1"/>
            </a:lvl1pPr>
            <a:lvl2pPr marL="1800454" indent="0">
              <a:buNone/>
              <a:defRPr sz="7876" b="1"/>
            </a:lvl2pPr>
            <a:lvl3pPr marL="3600907" indent="0">
              <a:buNone/>
              <a:defRPr sz="7088" b="1"/>
            </a:lvl3pPr>
            <a:lvl4pPr marL="5401361" indent="0">
              <a:buNone/>
              <a:defRPr sz="6301" b="1"/>
            </a:lvl4pPr>
            <a:lvl5pPr marL="7201814" indent="0">
              <a:buNone/>
              <a:defRPr sz="6301" b="1"/>
            </a:lvl5pPr>
            <a:lvl6pPr marL="9002268" indent="0">
              <a:buNone/>
              <a:defRPr sz="6301" b="1"/>
            </a:lvl6pPr>
            <a:lvl7pPr marL="10802722" indent="0">
              <a:buNone/>
              <a:defRPr sz="6301" b="1"/>
            </a:lvl7pPr>
            <a:lvl8pPr marL="12603175" indent="0">
              <a:buNone/>
              <a:defRPr sz="6301" b="1"/>
            </a:lvl8pPr>
            <a:lvl9pPr marL="14403629" indent="0">
              <a:buNone/>
              <a:defRPr sz="6301" b="1"/>
            </a:lvl9pPr>
          </a:lstStyle>
          <a:p>
            <a:pPr lvl="0"/>
            <a:r>
              <a:rPr lang="en-US"/>
              <a:t>Click to edit Master text styles</a:t>
            </a:r>
          </a:p>
        </p:txBody>
      </p:sp>
      <p:sp>
        <p:nvSpPr>
          <p:cNvPr id="6" name="Content Placeholder 5"/>
          <p:cNvSpPr>
            <a:spLocks noGrp="1"/>
          </p:cNvSpPr>
          <p:nvPr>
            <p:ph sz="quarter" idx="4"/>
          </p:nvPr>
        </p:nvSpPr>
        <p:spPr>
          <a:xfrm>
            <a:off x="18229691" y="10521315"/>
            <a:ext cx="15308627" cy="154752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B115AA-3CF4-4CCC-BDEB-11DA19717EFB}"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620471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B115AA-3CF4-4CCC-BDEB-11DA19717EFB}"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266087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B115AA-3CF4-4CCC-BDEB-11DA19717EFB}"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1492273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920240"/>
            <a:ext cx="11613925" cy="6720840"/>
          </a:xfrm>
        </p:spPr>
        <p:txBody>
          <a:bodyPr anchor="b"/>
          <a:lstStyle>
            <a:lvl1pPr>
              <a:defRPr sz="12602"/>
            </a:lvl1pPr>
          </a:lstStyle>
          <a:p>
            <a:r>
              <a:rPr lang="en-US"/>
              <a:t>Click to edit Master title style</a:t>
            </a:r>
            <a:endParaRPr lang="en-US" dirty="0"/>
          </a:p>
        </p:txBody>
      </p:sp>
      <p:sp>
        <p:nvSpPr>
          <p:cNvPr id="3" name="Content Placeholder 2"/>
          <p:cNvSpPr>
            <a:spLocks noGrp="1"/>
          </p:cNvSpPr>
          <p:nvPr>
            <p:ph idx="1"/>
          </p:nvPr>
        </p:nvSpPr>
        <p:spPr>
          <a:xfrm>
            <a:off x="15308627" y="4147191"/>
            <a:ext cx="18229689" cy="20469225"/>
          </a:xfrm>
        </p:spPr>
        <p:txBody>
          <a:bodyPr/>
          <a:lstStyle>
            <a:lvl1pPr>
              <a:defRPr sz="12602"/>
            </a:lvl1pPr>
            <a:lvl2pPr>
              <a:defRPr sz="11026"/>
            </a:lvl2pPr>
            <a:lvl3pPr>
              <a:defRPr sz="9451"/>
            </a:lvl3pPr>
            <a:lvl4pPr>
              <a:defRPr sz="7876"/>
            </a:lvl4pPr>
            <a:lvl5pPr>
              <a:defRPr sz="7876"/>
            </a:lvl5pPr>
            <a:lvl6pPr>
              <a:defRPr sz="7876"/>
            </a:lvl6pPr>
            <a:lvl7pPr>
              <a:defRPr sz="7876"/>
            </a:lvl7pPr>
            <a:lvl8pPr>
              <a:defRPr sz="7876"/>
            </a:lvl8pPr>
            <a:lvl9pPr>
              <a:defRPr sz="787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480327" y="8641080"/>
            <a:ext cx="11613925" cy="16008670"/>
          </a:xfrm>
        </p:spPr>
        <p:txBody>
          <a:bodyPr/>
          <a:lstStyle>
            <a:lvl1pPr marL="0" indent="0">
              <a:buNone/>
              <a:defRPr sz="6301"/>
            </a:lvl1pPr>
            <a:lvl2pPr marL="1800454" indent="0">
              <a:buNone/>
              <a:defRPr sz="5513"/>
            </a:lvl2pPr>
            <a:lvl3pPr marL="3600907" indent="0">
              <a:buNone/>
              <a:defRPr sz="4726"/>
            </a:lvl3pPr>
            <a:lvl4pPr marL="5401361" indent="0">
              <a:buNone/>
              <a:defRPr sz="3938"/>
            </a:lvl4pPr>
            <a:lvl5pPr marL="7201814" indent="0">
              <a:buNone/>
              <a:defRPr sz="3938"/>
            </a:lvl5pPr>
            <a:lvl6pPr marL="9002268" indent="0">
              <a:buNone/>
              <a:defRPr sz="3938"/>
            </a:lvl6pPr>
            <a:lvl7pPr marL="10802722" indent="0">
              <a:buNone/>
              <a:defRPr sz="3938"/>
            </a:lvl7pPr>
            <a:lvl8pPr marL="12603175" indent="0">
              <a:buNone/>
              <a:defRPr sz="3938"/>
            </a:lvl8pPr>
            <a:lvl9pPr marL="14403629" indent="0">
              <a:buNone/>
              <a:defRPr sz="3938"/>
            </a:lvl9pPr>
          </a:lstStyle>
          <a:p>
            <a:pPr lvl="0"/>
            <a:r>
              <a:rPr lang="en-US"/>
              <a:t>Click to edit Master text styles</a:t>
            </a:r>
          </a:p>
        </p:txBody>
      </p:sp>
      <p:sp>
        <p:nvSpPr>
          <p:cNvPr id="5" name="Date Placeholder 4"/>
          <p:cNvSpPr>
            <a:spLocks noGrp="1"/>
          </p:cNvSpPr>
          <p:nvPr>
            <p:ph type="dt" sz="half" idx="10"/>
          </p:nvPr>
        </p:nvSpPr>
        <p:spPr/>
        <p:txBody>
          <a:bodyPr/>
          <a:lstStyle/>
          <a:p>
            <a:fld id="{D8B115AA-3CF4-4CCC-BDEB-11DA19717EFB}"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99868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80327" y="1920240"/>
            <a:ext cx="11613925" cy="6720840"/>
          </a:xfrm>
        </p:spPr>
        <p:txBody>
          <a:bodyPr anchor="b"/>
          <a:lstStyle>
            <a:lvl1pPr>
              <a:defRPr sz="12602"/>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08627" y="4147191"/>
            <a:ext cx="18229689" cy="20469225"/>
          </a:xfrm>
        </p:spPr>
        <p:txBody>
          <a:bodyPr anchor="t"/>
          <a:lstStyle>
            <a:lvl1pPr marL="0" indent="0">
              <a:buNone/>
              <a:defRPr sz="12602"/>
            </a:lvl1pPr>
            <a:lvl2pPr marL="1800454" indent="0">
              <a:buNone/>
              <a:defRPr sz="11026"/>
            </a:lvl2pPr>
            <a:lvl3pPr marL="3600907" indent="0">
              <a:buNone/>
              <a:defRPr sz="9451"/>
            </a:lvl3pPr>
            <a:lvl4pPr marL="5401361" indent="0">
              <a:buNone/>
              <a:defRPr sz="7876"/>
            </a:lvl4pPr>
            <a:lvl5pPr marL="7201814" indent="0">
              <a:buNone/>
              <a:defRPr sz="7876"/>
            </a:lvl5pPr>
            <a:lvl6pPr marL="9002268" indent="0">
              <a:buNone/>
              <a:defRPr sz="7876"/>
            </a:lvl6pPr>
            <a:lvl7pPr marL="10802722" indent="0">
              <a:buNone/>
              <a:defRPr sz="7876"/>
            </a:lvl7pPr>
            <a:lvl8pPr marL="12603175" indent="0">
              <a:buNone/>
              <a:defRPr sz="7876"/>
            </a:lvl8pPr>
            <a:lvl9pPr marL="14403629" indent="0">
              <a:buNone/>
              <a:defRPr sz="7876"/>
            </a:lvl9pPr>
          </a:lstStyle>
          <a:p>
            <a:r>
              <a:rPr lang="en-US"/>
              <a:t>Click icon to add picture</a:t>
            </a:r>
            <a:endParaRPr lang="en-US" dirty="0"/>
          </a:p>
        </p:txBody>
      </p:sp>
      <p:sp>
        <p:nvSpPr>
          <p:cNvPr id="4" name="Text Placeholder 3"/>
          <p:cNvSpPr>
            <a:spLocks noGrp="1"/>
          </p:cNvSpPr>
          <p:nvPr>
            <p:ph type="body" sz="half" idx="2"/>
          </p:nvPr>
        </p:nvSpPr>
        <p:spPr>
          <a:xfrm>
            <a:off x="2480327" y="8641080"/>
            <a:ext cx="11613925" cy="16008670"/>
          </a:xfrm>
        </p:spPr>
        <p:txBody>
          <a:bodyPr/>
          <a:lstStyle>
            <a:lvl1pPr marL="0" indent="0">
              <a:buNone/>
              <a:defRPr sz="6301"/>
            </a:lvl1pPr>
            <a:lvl2pPr marL="1800454" indent="0">
              <a:buNone/>
              <a:defRPr sz="5513"/>
            </a:lvl2pPr>
            <a:lvl3pPr marL="3600907" indent="0">
              <a:buNone/>
              <a:defRPr sz="4726"/>
            </a:lvl3pPr>
            <a:lvl4pPr marL="5401361" indent="0">
              <a:buNone/>
              <a:defRPr sz="3938"/>
            </a:lvl4pPr>
            <a:lvl5pPr marL="7201814" indent="0">
              <a:buNone/>
              <a:defRPr sz="3938"/>
            </a:lvl5pPr>
            <a:lvl6pPr marL="9002268" indent="0">
              <a:buNone/>
              <a:defRPr sz="3938"/>
            </a:lvl6pPr>
            <a:lvl7pPr marL="10802722" indent="0">
              <a:buNone/>
              <a:defRPr sz="3938"/>
            </a:lvl7pPr>
            <a:lvl8pPr marL="12603175" indent="0">
              <a:buNone/>
              <a:defRPr sz="3938"/>
            </a:lvl8pPr>
            <a:lvl9pPr marL="14403629" indent="0">
              <a:buNone/>
              <a:defRPr sz="3938"/>
            </a:lvl9pPr>
          </a:lstStyle>
          <a:p>
            <a:pPr lvl="0"/>
            <a:r>
              <a:rPr lang="en-US"/>
              <a:t>Click to edit Master text styles</a:t>
            </a:r>
          </a:p>
        </p:txBody>
      </p:sp>
      <p:sp>
        <p:nvSpPr>
          <p:cNvPr id="5" name="Date Placeholder 4"/>
          <p:cNvSpPr>
            <a:spLocks noGrp="1"/>
          </p:cNvSpPr>
          <p:nvPr>
            <p:ph type="dt" sz="half" idx="10"/>
          </p:nvPr>
        </p:nvSpPr>
        <p:spPr/>
        <p:txBody>
          <a:bodyPr/>
          <a:lstStyle/>
          <a:p>
            <a:fld id="{D8B115AA-3CF4-4CCC-BDEB-11DA19717EFB}"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2068713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4097793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9131" y="1533525"/>
            <a:ext cx="7764497" cy="2440972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75639" y="1533525"/>
            <a:ext cx="22843376" cy="24409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B115AA-3CF4-4CCC-BDEB-11DA19717EFB}"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B705A-D84D-4808-8DC2-98AC89450570}" type="slidenum">
              <a:rPr lang="en-US" smtClean="0"/>
              <a:t>‹#›</a:t>
            </a:fld>
            <a:endParaRPr lang="en-US"/>
          </a:p>
        </p:txBody>
      </p:sp>
    </p:spTree>
    <p:extLst>
      <p:ext uri="{BB962C8B-B14F-4D97-AF65-F5344CB8AC3E}">
        <p14:creationId xmlns:p14="http://schemas.microsoft.com/office/powerpoint/2010/main" val="3918920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5637" y="1533531"/>
            <a:ext cx="31057989" cy="55673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75637" y="7667625"/>
            <a:ext cx="31057989" cy="182756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75637" y="26696676"/>
            <a:ext cx="8102084" cy="1533525"/>
          </a:xfrm>
          <a:prstGeom prst="rect">
            <a:avLst/>
          </a:prstGeom>
        </p:spPr>
        <p:txBody>
          <a:bodyPr vert="horz" lIns="91440" tIns="45720" rIns="91440" bIns="45720" rtlCol="0" anchor="ctr"/>
          <a:lstStyle>
            <a:lvl1pPr algn="l">
              <a:defRPr sz="4726">
                <a:solidFill>
                  <a:schemeClr val="tx1">
                    <a:tint val="82000"/>
                  </a:schemeClr>
                </a:solidFill>
              </a:defRPr>
            </a:lvl1pPr>
          </a:lstStyle>
          <a:p>
            <a:fld id="{D8B115AA-3CF4-4CCC-BDEB-11DA19717EFB}" type="datetimeFigureOut">
              <a:rPr lang="en-US" smtClean="0"/>
              <a:t>7/31/2026</a:t>
            </a:fld>
            <a:endParaRPr lang="en-US"/>
          </a:p>
        </p:txBody>
      </p:sp>
      <p:sp>
        <p:nvSpPr>
          <p:cNvPr id="5" name="Footer Placeholder 4"/>
          <p:cNvSpPr>
            <a:spLocks noGrp="1"/>
          </p:cNvSpPr>
          <p:nvPr>
            <p:ph type="ftr" sz="quarter" idx="3"/>
          </p:nvPr>
        </p:nvSpPr>
        <p:spPr>
          <a:xfrm>
            <a:off x="11928069" y="26696676"/>
            <a:ext cx="12153126" cy="1533525"/>
          </a:xfrm>
          <a:prstGeom prst="rect">
            <a:avLst/>
          </a:prstGeom>
        </p:spPr>
        <p:txBody>
          <a:bodyPr vert="horz" lIns="91440" tIns="45720" rIns="91440" bIns="45720" rtlCol="0" anchor="ctr"/>
          <a:lstStyle>
            <a:lvl1pPr algn="ctr">
              <a:defRPr sz="4726">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431542" y="26696676"/>
            <a:ext cx="8102084" cy="1533525"/>
          </a:xfrm>
          <a:prstGeom prst="rect">
            <a:avLst/>
          </a:prstGeom>
        </p:spPr>
        <p:txBody>
          <a:bodyPr vert="horz" lIns="91440" tIns="45720" rIns="91440" bIns="45720" rtlCol="0" anchor="ctr"/>
          <a:lstStyle>
            <a:lvl1pPr algn="r">
              <a:defRPr sz="4726">
                <a:solidFill>
                  <a:schemeClr val="tx1">
                    <a:tint val="82000"/>
                  </a:schemeClr>
                </a:solidFill>
              </a:defRPr>
            </a:lvl1pPr>
          </a:lstStyle>
          <a:p>
            <a:fld id="{4A3B705A-D84D-4808-8DC2-98AC89450570}" type="slidenum">
              <a:rPr lang="en-US" smtClean="0"/>
              <a:t>‹#›</a:t>
            </a:fld>
            <a:endParaRPr lang="en-US"/>
          </a:p>
        </p:txBody>
      </p:sp>
    </p:spTree>
    <p:extLst>
      <p:ext uri="{BB962C8B-B14F-4D97-AF65-F5344CB8AC3E}">
        <p14:creationId xmlns:p14="http://schemas.microsoft.com/office/powerpoint/2010/main" val="30650713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00907" rtl="0" eaLnBrk="1" latinLnBrk="0" hangingPunct="1">
        <a:lnSpc>
          <a:spcPct val="90000"/>
        </a:lnSpc>
        <a:spcBef>
          <a:spcPct val="0"/>
        </a:spcBef>
        <a:buNone/>
        <a:defRPr sz="17327" kern="1200">
          <a:solidFill>
            <a:schemeClr val="tx1"/>
          </a:solidFill>
          <a:latin typeface="+mj-lt"/>
          <a:ea typeface="+mj-ea"/>
          <a:cs typeface="+mj-cs"/>
        </a:defRPr>
      </a:lvl1pPr>
    </p:titleStyle>
    <p:bodyStyle>
      <a:lvl1pPr marL="900227" indent="-900227" algn="l" defTabSz="3600907" rtl="0" eaLnBrk="1" latinLnBrk="0" hangingPunct="1">
        <a:lnSpc>
          <a:spcPct val="90000"/>
        </a:lnSpc>
        <a:spcBef>
          <a:spcPts val="3938"/>
        </a:spcBef>
        <a:buFont typeface="Arial" panose="020B0604020202020204" pitchFamily="34" charset="0"/>
        <a:buChar char="•"/>
        <a:defRPr sz="11026" kern="1200">
          <a:solidFill>
            <a:schemeClr val="tx1"/>
          </a:solidFill>
          <a:latin typeface="+mn-lt"/>
          <a:ea typeface="+mn-ea"/>
          <a:cs typeface="+mn-cs"/>
        </a:defRPr>
      </a:lvl1pPr>
      <a:lvl2pPr marL="2700680" indent="-900227" algn="l" defTabSz="3600907" rtl="0" eaLnBrk="1" latinLnBrk="0" hangingPunct="1">
        <a:lnSpc>
          <a:spcPct val="90000"/>
        </a:lnSpc>
        <a:spcBef>
          <a:spcPts val="1969"/>
        </a:spcBef>
        <a:buFont typeface="Arial" panose="020B0604020202020204" pitchFamily="34" charset="0"/>
        <a:buChar char="•"/>
        <a:defRPr sz="9451" kern="1200">
          <a:solidFill>
            <a:schemeClr val="tx1"/>
          </a:solidFill>
          <a:latin typeface="+mn-lt"/>
          <a:ea typeface="+mn-ea"/>
          <a:cs typeface="+mn-cs"/>
        </a:defRPr>
      </a:lvl2pPr>
      <a:lvl3pPr marL="4501134" indent="-900227" algn="l" defTabSz="3600907" rtl="0" eaLnBrk="1" latinLnBrk="0" hangingPunct="1">
        <a:lnSpc>
          <a:spcPct val="90000"/>
        </a:lnSpc>
        <a:spcBef>
          <a:spcPts val="1969"/>
        </a:spcBef>
        <a:buFont typeface="Arial" panose="020B0604020202020204" pitchFamily="34" charset="0"/>
        <a:buChar char="•"/>
        <a:defRPr sz="7876" kern="1200">
          <a:solidFill>
            <a:schemeClr val="tx1"/>
          </a:solidFill>
          <a:latin typeface="+mn-lt"/>
          <a:ea typeface="+mn-ea"/>
          <a:cs typeface="+mn-cs"/>
        </a:defRPr>
      </a:lvl3pPr>
      <a:lvl4pPr marL="6301588"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4pPr>
      <a:lvl5pPr marL="8102041"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5pPr>
      <a:lvl6pPr marL="9902495"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6pPr>
      <a:lvl7pPr marL="11702948"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7pPr>
      <a:lvl8pPr marL="13503402"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8pPr>
      <a:lvl9pPr marL="15303856" indent="-900227" algn="l" defTabSz="3600907"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9pPr>
    </p:bodyStyle>
    <p:otherStyle>
      <a:defPPr>
        <a:defRPr lang="en-US"/>
      </a:defPPr>
      <a:lvl1pPr marL="0" algn="l" defTabSz="3600907" rtl="0" eaLnBrk="1" latinLnBrk="0" hangingPunct="1">
        <a:defRPr sz="7088" kern="1200">
          <a:solidFill>
            <a:schemeClr val="tx1"/>
          </a:solidFill>
          <a:latin typeface="+mn-lt"/>
          <a:ea typeface="+mn-ea"/>
          <a:cs typeface="+mn-cs"/>
        </a:defRPr>
      </a:lvl1pPr>
      <a:lvl2pPr marL="1800454" algn="l" defTabSz="3600907" rtl="0" eaLnBrk="1" latinLnBrk="0" hangingPunct="1">
        <a:defRPr sz="7088" kern="1200">
          <a:solidFill>
            <a:schemeClr val="tx1"/>
          </a:solidFill>
          <a:latin typeface="+mn-lt"/>
          <a:ea typeface="+mn-ea"/>
          <a:cs typeface="+mn-cs"/>
        </a:defRPr>
      </a:lvl2pPr>
      <a:lvl3pPr marL="3600907" algn="l" defTabSz="3600907" rtl="0" eaLnBrk="1" latinLnBrk="0" hangingPunct="1">
        <a:defRPr sz="7088" kern="1200">
          <a:solidFill>
            <a:schemeClr val="tx1"/>
          </a:solidFill>
          <a:latin typeface="+mn-lt"/>
          <a:ea typeface="+mn-ea"/>
          <a:cs typeface="+mn-cs"/>
        </a:defRPr>
      </a:lvl3pPr>
      <a:lvl4pPr marL="5401361" algn="l" defTabSz="3600907" rtl="0" eaLnBrk="1" latinLnBrk="0" hangingPunct="1">
        <a:defRPr sz="7088" kern="1200">
          <a:solidFill>
            <a:schemeClr val="tx1"/>
          </a:solidFill>
          <a:latin typeface="+mn-lt"/>
          <a:ea typeface="+mn-ea"/>
          <a:cs typeface="+mn-cs"/>
        </a:defRPr>
      </a:lvl4pPr>
      <a:lvl5pPr marL="7201814" algn="l" defTabSz="3600907" rtl="0" eaLnBrk="1" latinLnBrk="0" hangingPunct="1">
        <a:defRPr sz="7088" kern="1200">
          <a:solidFill>
            <a:schemeClr val="tx1"/>
          </a:solidFill>
          <a:latin typeface="+mn-lt"/>
          <a:ea typeface="+mn-ea"/>
          <a:cs typeface="+mn-cs"/>
        </a:defRPr>
      </a:lvl5pPr>
      <a:lvl6pPr marL="9002268" algn="l" defTabSz="3600907" rtl="0" eaLnBrk="1" latinLnBrk="0" hangingPunct="1">
        <a:defRPr sz="7088" kern="1200">
          <a:solidFill>
            <a:schemeClr val="tx1"/>
          </a:solidFill>
          <a:latin typeface="+mn-lt"/>
          <a:ea typeface="+mn-ea"/>
          <a:cs typeface="+mn-cs"/>
        </a:defRPr>
      </a:lvl6pPr>
      <a:lvl7pPr marL="10802722" algn="l" defTabSz="3600907" rtl="0" eaLnBrk="1" latinLnBrk="0" hangingPunct="1">
        <a:defRPr sz="7088" kern="1200">
          <a:solidFill>
            <a:schemeClr val="tx1"/>
          </a:solidFill>
          <a:latin typeface="+mn-lt"/>
          <a:ea typeface="+mn-ea"/>
          <a:cs typeface="+mn-cs"/>
        </a:defRPr>
      </a:lvl7pPr>
      <a:lvl8pPr marL="12603175" algn="l" defTabSz="3600907" rtl="0" eaLnBrk="1" latinLnBrk="0" hangingPunct="1">
        <a:defRPr sz="7088" kern="1200">
          <a:solidFill>
            <a:schemeClr val="tx1"/>
          </a:solidFill>
          <a:latin typeface="+mn-lt"/>
          <a:ea typeface="+mn-ea"/>
          <a:cs typeface="+mn-cs"/>
        </a:defRPr>
      </a:lvl8pPr>
      <a:lvl9pPr marL="14403629" algn="l" defTabSz="3600907" rtl="0" eaLnBrk="1" latinLnBrk="0" hangingPunct="1">
        <a:defRPr sz="70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hyperlink" Target="https://pmc.ncbi.nlm.nih.gov/articles/PMC9630743/" TargetMode="External"/><Relationship Id="rId3" Type="http://schemas.openxmlformats.org/officeDocument/2006/relationships/image" Target="../media/image1.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hyperlink" Target="https://link.springer.com/article/10.1007/s43032-026-02081-z" TargetMode="External"/><Relationship Id="rId2" Type="http://schemas.openxmlformats.org/officeDocument/2006/relationships/notesSlide" Target="../notesSlides/notesSlide1.xml"/><Relationship Id="rId16" Type="http://schemas.openxmlformats.org/officeDocument/2006/relationships/hyperlink" Target="https://pmc.ncbi.nlm.nih.gov/articles/PMC5813864/" TargetMode="External"/><Relationship Id="rId20" Type="http://schemas.openxmlformats.org/officeDocument/2006/relationships/hyperlink" Target="https://pmc.ncbi.nlm.nih.gov/articles/PMC10503213/" TargetMode="Externa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hyperlink" Target="https://pmc.ncbi.nlm.nih.gov/articles/PMC5776778/" TargetMode="External"/><Relationship Id="rId10" Type="http://schemas.openxmlformats.org/officeDocument/2006/relationships/image" Target="../media/image8.png"/><Relationship Id="rId19" Type="http://schemas.openxmlformats.org/officeDocument/2006/relationships/hyperlink" Target="https://www.sciencedirect.com/science/article/pii/S1472648317306168"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hyperlink" Target="https://pmc.ncbi.nlm.nih.gov/articles/PMC493974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AF7976-95CD-3F88-20DB-F76A6A6DCAAB}"/>
              </a:ext>
            </a:extLst>
          </p:cNvPr>
          <p:cNvSpPr/>
          <p:nvPr/>
        </p:nvSpPr>
        <p:spPr>
          <a:xfrm>
            <a:off x="-1" y="16370"/>
            <a:ext cx="36009263" cy="5591286"/>
          </a:xfrm>
          <a:prstGeom prst="rect">
            <a:avLst/>
          </a:prstGeom>
          <a:solidFill>
            <a:srgbClr val="7F234D"/>
          </a:solidFill>
          <a:ln>
            <a:solidFill>
              <a:srgbClr val="7F23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10" name="Rectangle 9">
            <a:extLst>
              <a:ext uri="{FF2B5EF4-FFF2-40B4-BE49-F238E27FC236}">
                <a16:creationId xmlns:a16="http://schemas.microsoft.com/office/drawing/2014/main" id="{64406B4E-81A1-6759-6787-A2D1C999DF87}"/>
              </a:ext>
            </a:extLst>
          </p:cNvPr>
          <p:cNvSpPr/>
          <p:nvPr/>
        </p:nvSpPr>
        <p:spPr>
          <a:xfrm>
            <a:off x="0" y="5607656"/>
            <a:ext cx="36009263" cy="23311420"/>
          </a:xfrm>
          <a:prstGeom prst="rect">
            <a:avLst/>
          </a:prstGeom>
          <a:solidFill>
            <a:srgbClr val="EBB5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46" dirty="0"/>
              <a:t>Department of Biomolecular Sciences, University of Lethbridge, 4401 University Drive, Lethbridge, Alberta, Canada, T1K 3M4 </a:t>
            </a:r>
          </a:p>
        </p:txBody>
      </p:sp>
      <p:sp>
        <p:nvSpPr>
          <p:cNvPr id="11" name="Rectangle 10">
            <a:extLst>
              <a:ext uri="{FF2B5EF4-FFF2-40B4-BE49-F238E27FC236}">
                <a16:creationId xmlns:a16="http://schemas.microsoft.com/office/drawing/2014/main" id="{5412BC24-389C-5F88-6B29-2584C9F32F88}"/>
              </a:ext>
            </a:extLst>
          </p:cNvPr>
          <p:cNvSpPr/>
          <p:nvPr/>
        </p:nvSpPr>
        <p:spPr>
          <a:xfrm>
            <a:off x="216120" y="5961330"/>
            <a:ext cx="9535725" cy="22957746"/>
          </a:xfrm>
          <a:prstGeom prst="rect">
            <a:avLst/>
          </a:prstGeom>
          <a:solidFill>
            <a:schemeClr val="bg1"/>
          </a:solidFill>
          <a:ln w="101600">
            <a:solidFill>
              <a:srgbClr val="B678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a:p>
        </p:txBody>
      </p:sp>
      <p:sp>
        <p:nvSpPr>
          <p:cNvPr id="14" name="Rectangle 13">
            <a:extLst>
              <a:ext uri="{FF2B5EF4-FFF2-40B4-BE49-F238E27FC236}">
                <a16:creationId xmlns:a16="http://schemas.microsoft.com/office/drawing/2014/main" id="{D5D2B8C9-0F14-7177-BB47-35B6F8866AB5}"/>
              </a:ext>
            </a:extLst>
          </p:cNvPr>
          <p:cNvSpPr/>
          <p:nvPr/>
        </p:nvSpPr>
        <p:spPr>
          <a:xfrm>
            <a:off x="26465086" y="5902622"/>
            <a:ext cx="9396401" cy="22845065"/>
          </a:xfrm>
          <a:prstGeom prst="rect">
            <a:avLst/>
          </a:prstGeom>
          <a:solidFill>
            <a:schemeClr val="bg1"/>
          </a:solidFill>
          <a:ln w="101600">
            <a:solidFill>
              <a:srgbClr val="B678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15" name="Rectangle 14">
            <a:extLst>
              <a:ext uri="{FF2B5EF4-FFF2-40B4-BE49-F238E27FC236}">
                <a16:creationId xmlns:a16="http://schemas.microsoft.com/office/drawing/2014/main" id="{5BD7D8DF-3499-1AD2-B1A4-CA7A42855BAF}"/>
              </a:ext>
            </a:extLst>
          </p:cNvPr>
          <p:cNvSpPr/>
          <p:nvPr/>
        </p:nvSpPr>
        <p:spPr>
          <a:xfrm>
            <a:off x="9934333" y="12070060"/>
            <a:ext cx="16357830" cy="16677627"/>
          </a:xfrm>
          <a:prstGeom prst="rect">
            <a:avLst/>
          </a:prstGeom>
          <a:solidFill>
            <a:schemeClr val="bg1"/>
          </a:solidFill>
          <a:ln w="101600">
            <a:solidFill>
              <a:srgbClr val="B678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46" dirty="0"/>
              <a:t>Department of Biomolecular Sciences, University of Lethbridge, 4401 University Drive, Lethbridge, Alberta, Canada, T1K 3M4</a:t>
            </a:r>
          </a:p>
        </p:txBody>
      </p:sp>
      <p:sp>
        <p:nvSpPr>
          <p:cNvPr id="19" name="TextBox 18">
            <a:extLst>
              <a:ext uri="{FF2B5EF4-FFF2-40B4-BE49-F238E27FC236}">
                <a16:creationId xmlns:a16="http://schemas.microsoft.com/office/drawing/2014/main" id="{A388BA04-33A0-3504-24BA-5144D4AB3AD8}"/>
              </a:ext>
            </a:extLst>
          </p:cNvPr>
          <p:cNvSpPr txBox="1"/>
          <p:nvPr/>
        </p:nvSpPr>
        <p:spPr>
          <a:xfrm>
            <a:off x="621802" y="-114748"/>
            <a:ext cx="34668062" cy="2800767"/>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Uncovering Potential Actionable Biomarkers for Endometriosis using Differential Gene Expression Analysis</a:t>
            </a:r>
          </a:p>
        </p:txBody>
      </p:sp>
      <p:sp>
        <p:nvSpPr>
          <p:cNvPr id="20" name="TextBox 19">
            <a:extLst>
              <a:ext uri="{FF2B5EF4-FFF2-40B4-BE49-F238E27FC236}">
                <a16:creationId xmlns:a16="http://schemas.microsoft.com/office/drawing/2014/main" id="{60A20C1F-F9A1-14E6-14A4-BD188455468C}"/>
              </a:ext>
            </a:extLst>
          </p:cNvPr>
          <p:cNvSpPr txBox="1"/>
          <p:nvPr/>
        </p:nvSpPr>
        <p:spPr>
          <a:xfrm>
            <a:off x="6356039" y="4693896"/>
            <a:ext cx="31514806"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Department of Biological  Sciences, University of Lethbridge, 4401 University Drive, Lethbridge, Alberta, Canada, T1K 3M4</a:t>
            </a:r>
          </a:p>
        </p:txBody>
      </p:sp>
      <p:sp>
        <p:nvSpPr>
          <p:cNvPr id="21" name="TextBox 20">
            <a:extLst>
              <a:ext uri="{FF2B5EF4-FFF2-40B4-BE49-F238E27FC236}">
                <a16:creationId xmlns:a16="http://schemas.microsoft.com/office/drawing/2014/main" id="{5B4666F5-BD6B-AC8A-A878-B09FD02CF58D}"/>
              </a:ext>
            </a:extLst>
          </p:cNvPr>
          <p:cNvSpPr txBox="1"/>
          <p:nvPr/>
        </p:nvSpPr>
        <p:spPr>
          <a:xfrm>
            <a:off x="11570231" y="3762393"/>
            <a:ext cx="14962909" cy="923330"/>
          </a:xfrm>
          <a:prstGeom prst="rect">
            <a:avLst/>
          </a:prstGeom>
          <a:noFill/>
        </p:spPr>
        <p:txBody>
          <a:bodyPr wrap="square" rtlCol="0">
            <a:spAutoFit/>
          </a:bodyPr>
          <a:lstStyle/>
          <a:p>
            <a:r>
              <a:rPr lang="en-US" sz="5400" dirty="0">
                <a:solidFill>
                  <a:schemeClr val="bg1"/>
                </a:solidFill>
                <a:latin typeface="Times New Roman" panose="02020603050405020304" pitchFamily="18" charset="0"/>
                <a:cs typeface="Times New Roman" panose="02020603050405020304" pitchFamily="18" charset="0"/>
              </a:rPr>
              <a:t>Amira Bach, Sweta Rai, Igor Kovalchuk</a:t>
            </a:r>
          </a:p>
        </p:txBody>
      </p:sp>
      <p:pic>
        <p:nvPicPr>
          <p:cNvPr id="24" name="Picture 23">
            <a:extLst>
              <a:ext uri="{FF2B5EF4-FFF2-40B4-BE49-F238E27FC236}">
                <a16:creationId xmlns:a16="http://schemas.microsoft.com/office/drawing/2014/main" id="{E8D589A8-2496-A8B7-F1E3-CE6C0FBD9597}"/>
              </a:ext>
            </a:extLst>
          </p:cNvPr>
          <p:cNvPicPr>
            <a:picLocks noChangeAspect="1"/>
          </p:cNvPicPr>
          <p:nvPr/>
        </p:nvPicPr>
        <p:blipFill>
          <a:blip r:embed="rId3"/>
          <a:stretch>
            <a:fillRect/>
          </a:stretch>
        </p:blipFill>
        <p:spPr>
          <a:xfrm>
            <a:off x="-327691" y="1031116"/>
            <a:ext cx="10230878" cy="4113665"/>
          </a:xfrm>
          <a:prstGeom prst="rect">
            <a:avLst/>
          </a:prstGeom>
        </p:spPr>
      </p:pic>
      <p:pic>
        <p:nvPicPr>
          <p:cNvPr id="1042" name="Picture 18">
            <a:extLst>
              <a:ext uri="{FF2B5EF4-FFF2-40B4-BE49-F238E27FC236}">
                <a16:creationId xmlns:a16="http://schemas.microsoft.com/office/drawing/2014/main" id="{2130BCE5-2FE7-6079-9579-DE4B5BA70AB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360" t="14850" r="18617" b="16292"/>
          <a:stretch>
            <a:fillRect/>
          </a:stretch>
        </p:blipFill>
        <p:spPr bwMode="auto">
          <a:xfrm>
            <a:off x="30985730" y="1812243"/>
            <a:ext cx="4159579" cy="2936625"/>
          </a:xfrm>
          <a:prstGeom prst="rect">
            <a:avLst/>
          </a:prstGeom>
          <a:solidFill>
            <a:schemeClr val="bg1"/>
          </a:solidFill>
          <a:ln w="88900" cap="sq">
            <a:solidFill>
              <a:srgbClr val="B67894"/>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5" name="TextBox 24">
            <a:extLst>
              <a:ext uri="{FF2B5EF4-FFF2-40B4-BE49-F238E27FC236}">
                <a16:creationId xmlns:a16="http://schemas.microsoft.com/office/drawing/2014/main" id="{07883FA2-63C0-ABDA-12AE-6F268007CACA}"/>
              </a:ext>
            </a:extLst>
          </p:cNvPr>
          <p:cNvSpPr txBox="1"/>
          <p:nvPr/>
        </p:nvSpPr>
        <p:spPr>
          <a:xfrm>
            <a:off x="3521833" y="5838982"/>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Abstract</a:t>
            </a:r>
          </a:p>
        </p:txBody>
      </p:sp>
      <p:sp>
        <p:nvSpPr>
          <p:cNvPr id="27" name="TextBox 26">
            <a:extLst>
              <a:ext uri="{FF2B5EF4-FFF2-40B4-BE49-F238E27FC236}">
                <a16:creationId xmlns:a16="http://schemas.microsoft.com/office/drawing/2014/main" id="{5376E3D5-E8C0-03F0-03D1-6E1D4AB22504}"/>
              </a:ext>
            </a:extLst>
          </p:cNvPr>
          <p:cNvSpPr txBox="1"/>
          <p:nvPr/>
        </p:nvSpPr>
        <p:spPr>
          <a:xfrm>
            <a:off x="3307968" y="15645381"/>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Introduction</a:t>
            </a:r>
          </a:p>
        </p:txBody>
      </p:sp>
      <p:sp>
        <p:nvSpPr>
          <p:cNvPr id="28" name="TextBox 27">
            <a:extLst>
              <a:ext uri="{FF2B5EF4-FFF2-40B4-BE49-F238E27FC236}">
                <a16:creationId xmlns:a16="http://schemas.microsoft.com/office/drawing/2014/main" id="{90E49AD6-985B-F11F-4BDD-B7771482784D}"/>
              </a:ext>
            </a:extLst>
          </p:cNvPr>
          <p:cNvSpPr txBox="1"/>
          <p:nvPr/>
        </p:nvSpPr>
        <p:spPr>
          <a:xfrm>
            <a:off x="16215164" y="5511419"/>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Methodology</a:t>
            </a:r>
          </a:p>
        </p:txBody>
      </p:sp>
      <p:sp>
        <p:nvSpPr>
          <p:cNvPr id="29" name="TextBox 28">
            <a:extLst>
              <a:ext uri="{FF2B5EF4-FFF2-40B4-BE49-F238E27FC236}">
                <a16:creationId xmlns:a16="http://schemas.microsoft.com/office/drawing/2014/main" id="{DC3B1505-9250-4A98-3126-98F581E059E3}"/>
              </a:ext>
            </a:extLst>
          </p:cNvPr>
          <p:cNvSpPr txBox="1"/>
          <p:nvPr/>
        </p:nvSpPr>
        <p:spPr>
          <a:xfrm>
            <a:off x="16738209" y="12044742"/>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Results</a:t>
            </a:r>
          </a:p>
        </p:txBody>
      </p:sp>
      <p:sp>
        <p:nvSpPr>
          <p:cNvPr id="31" name="TextBox 30">
            <a:extLst>
              <a:ext uri="{FF2B5EF4-FFF2-40B4-BE49-F238E27FC236}">
                <a16:creationId xmlns:a16="http://schemas.microsoft.com/office/drawing/2014/main" id="{282B3261-6E8F-B5F2-A9BB-60E388B7EFE2}"/>
              </a:ext>
            </a:extLst>
          </p:cNvPr>
          <p:cNvSpPr txBox="1"/>
          <p:nvPr/>
        </p:nvSpPr>
        <p:spPr>
          <a:xfrm>
            <a:off x="29703670" y="16238825"/>
            <a:ext cx="5441639"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Conclusion</a:t>
            </a:r>
          </a:p>
        </p:txBody>
      </p:sp>
      <p:sp>
        <p:nvSpPr>
          <p:cNvPr id="32" name="TextBox 31">
            <a:extLst>
              <a:ext uri="{FF2B5EF4-FFF2-40B4-BE49-F238E27FC236}">
                <a16:creationId xmlns:a16="http://schemas.microsoft.com/office/drawing/2014/main" id="{C71CEA46-5D95-E615-8784-98504215A69A}"/>
              </a:ext>
            </a:extLst>
          </p:cNvPr>
          <p:cNvSpPr txBox="1"/>
          <p:nvPr/>
        </p:nvSpPr>
        <p:spPr>
          <a:xfrm>
            <a:off x="29703671" y="5825081"/>
            <a:ext cx="5441639"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Discussion</a:t>
            </a:r>
          </a:p>
        </p:txBody>
      </p:sp>
      <p:sp>
        <p:nvSpPr>
          <p:cNvPr id="4" name="Rectangle 3">
            <a:extLst>
              <a:ext uri="{FF2B5EF4-FFF2-40B4-BE49-F238E27FC236}">
                <a16:creationId xmlns:a16="http://schemas.microsoft.com/office/drawing/2014/main" id="{87264AAA-BE5A-C594-D77A-2A874FDCEA7F}"/>
              </a:ext>
            </a:extLst>
          </p:cNvPr>
          <p:cNvSpPr/>
          <p:nvPr/>
        </p:nvSpPr>
        <p:spPr>
          <a:xfrm>
            <a:off x="13749905" y="6312609"/>
            <a:ext cx="4014077" cy="2622889"/>
          </a:xfrm>
          <a:prstGeom prst="rect">
            <a:avLst/>
          </a:prstGeom>
          <a:solidFill>
            <a:schemeClr val="bg1"/>
          </a:solidFill>
          <a:ln w="101600">
            <a:solidFill>
              <a:srgbClr val="E6B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chemeClr val="bg1"/>
              </a:solidFill>
            </a:endParaRPr>
          </a:p>
        </p:txBody>
      </p:sp>
      <p:sp>
        <p:nvSpPr>
          <p:cNvPr id="6" name="Rectangle 5">
            <a:extLst>
              <a:ext uri="{FF2B5EF4-FFF2-40B4-BE49-F238E27FC236}">
                <a16:creationId xmlns:a16="http://schemas.microsoft.com/office/drawing/2014/main" id="{CD089A61-E68F-4D3D-A273-A2C80E8EA712}"/>
              </a:ext>
            </a:extLst>
          </p:cNvPr>
          <p:cNvSpPr/>
          <p:nvPr/>
        </p:nvSpPr>
        <p:spPr>
          <a:xfrm>
            <a:off x="9918773" y="9462212"/>
            <a:ext cx="3677181" cy="2410172"/>
          </a:xfrm>
          <a:prstGeom prst="rect">
            <a:avLst/>
          </a:prstGeom>
          <a:solidFill>
            <a:schemeClr val="bg1"/>
          </a:solidFill>
          <a:ln w="101600">
            <a:solidFill>
              <a:srgbClr val="EEC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7" name="TextBox 6">
            <a:extLst>
              <a:ext uri="{FF2B5EF4-FFF2-40B4-BE49-F238E27FC236}">
                <a16:creationId xmlns:a16="http://schemas.microsoft.com/office/drawing/2014/main" id="{6DBBA754-EDAD-F2ED-3B2E-53109E1A84DB}"/>
              </a:ext>
            </a:extLst>
          </p:cNvPr>
          <p:cNvSpPr txBox="1"/>
          <p:nvPr/>
        </p:nvSpPr>
        <p:spPr>
          <a:xfrm>
            <a:off x="13878447" y="6310047"/>
            <a:ext cx="3939142" cy="3200876"/>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Data preparation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Remove low variance probes and fill </a:t>
            </a:r>
            <a:r>
              <a:rPr lang="en-US" sz="2400" dirty="0" err="1">
                <a:latin typeface="Times New Roman" panose="02020603050405020304" pitchFamily="18" charset="0"/>
                <a:cs typeface="Times New Roman" panose="02020603050405020304" pitchFamily="18" charset="0"/>
              </a:rPr>
              <a:t>NaN</a:t>
            </a:r>
            <a:r>
              <a:rPr lang="en-US" sz="2400" dirty="0">
                <a:latin typeface="Times New Roman" panose="02020603050405020304" pitchFamily="18" charset="0"/>
                <a:cs typeface="Times New Roman" panose="02020603050405020304" pitchFamily="18" charset="0"/>
              </a:rPr>
              <a:t> values with median</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Annotate with gene symbol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Group data</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
        <p:nvSpPr>
          <p:cNvPr id="8" name="TextBox 7">
            <a:extLst>
              <a:ext uri="{FF2B5EF4-FFF2-40B4-BE49-F238E27FC236}">
                <a16:creationId xmlns:a16="http://schemas.microsoft.com/office/drawing/2014/main" id="{D04870E9-47AF-94B7-CE8F-FBE659A6851F}"/>
              </a:ext>
            </a:extLst>
          </p:cNvPr>
          <p:cNvSpPr txBox="1"/>
          <p:nvPr/>
        </p:nvSpPr>
        <p:spPr>
          <a:xfrm>
            <a:off x="13610695" y="10543023"/>
            <a:ext cx="3780264" cy="400110"/>
          </a:xfrm>
          <a:prstGeom prst="rect">
            <a:avLst/>
          </a:prstGeom>
          <a:noFill/>
        </p:spPr>
        <p:txBody>
          <a:bodyPr wrap="square" rtlCol="0">
            <a:spAutoFit/>
          </a:bodyPr>
          <a:lstStyle/>
          <a:p>
            <a:pPr marL="342900" indent="-342900">
              <a:buFont typeface="Aptos" panose="020B00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A8D077A-91AC-F316-550C-37D0D44CAFB9}"/>
              </a:ext>
            </a:extLst>
          </p:cNvPr>
          <p:cNvSpPr/>
          <p:nvPr/>
        </p:nvSpPr>
        <p:spPr>
          <a:xfrm>
            <a:off x="17955833" y="6312610"/>
            <a:ext cx="3725227" cy="2622888"/>
          </a:xfrm>
          <a:prstGeom prst="rect">
            <a:avLst/>
          </a:prstGeom>
          <a:solidFill>
            <a:schemeClr val="bg1"/>
          </a:solidFill>
          <a:ln w="101600">
            <a:solidFill>
              <a:srgbClr val="D16D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a:p>
        </p:txBody>
      </p:sp>
      <p:sp>
        <p:nvSpPr>
          <p:cNvPr id="13" name="TextBox 12">
            <a:extLst>
              <a:ext uri="{FF2B5EF4-FFF2-40B4-BE49-F238E27FC236}">
                <a16:creationId xmlns:a16="http://schemas.microsoft.com/office/drawing/2014/main" id="{310774B6-4FF1-38FE-8DAB-DBC83F7AEB51}"/>
              </a:ext>
            </a:extLst>
          </p:cNvPr>
          <p:cNvSpPr txBox="1"/>
          <p:nvPr/>
        </p:nvSpPr>
        <p:spPr>
          <a:xfrm>
            <a:off x="18078469" y="6195249"/>
            <a:ext cx="3863621" cy="3108543"/>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Differential analysis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contrast and design matrices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a:t>
            </a:r>
            <a:r>
              <a:rPr lang="en-US" sz="2400" dirty="0" err="1">
                <a:latin typeface="Times New Roman" panose="02020603050405020304" pitchFamily="18" charset="0"/>
                <a:cs typeface="Times New Roman" panose="02020603050405020304" pitchFamily="18" charset="0"/>
              </a:rPr>
              <a:t>limma</a:t>
            </a:r>
            <a:r>
              <a:rPr lang="en-US" sz="2400" dirty="0">
                <a:latin typeface="Times New Roman" panose="02020603050405020304" pitchFamily="18" charset="0"/>
                <a:cs typeface="Times New Roman" panose="02020603050405020304" pitchFamily="18" charset="0"/>
              </a:rPr>
              <a:t> package to fit data to statistical model using </a:t>
            </a:r>
            <a:r>
              <a:rPr lang="en-US" sz="2400" dirty="0" err="1">
                <a:latin typeface="Times New Roman" panose="02020603050405020304" pitchFamily="18" charset="0"/>
                <a:cs typeface="Times New Roman" panose="02020603050405020304" pitchFamily="18" charset="0"/>
              </a:rPr>
              <a:t>logFC</a:t>
            </a:r>
            <a:r>
              <a:rPr lang="en-US" sz="2400" dirty="0">
                <a:latin typeface="Times New Roman" panose="02020603050405020304" pitchFamily="18" charset="0"/>
                <a:cs typeface="Times New Roman" panose="02020603050405020304" pitchFamily="18" charset="0"/>
              </a:rPr>
              <a:t>  &gt;0.1 and adjusted P value&lt;0.05</a:t>
            </a:r>
          </a:p>
          <a:p>
            <a:endParaRPr lang="en-US" sz="2400"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8E414915-D677-9DFC-5686-3A8E6F38E4B1}"/>
              </a:ext>
            </a:extLst>
          </p:cNvPr>
          <p:cNvSpPr/>
          <p:nvPr/>
        </p:nvSpPr>
        <p:spPr>
          <a:xfrm>
            <a:off x="21891448" y="6286136"/>
            <a:ext cx="4419689" cy="5548149"/>
          </a:xfrm>
          <a:prstGeom prst="rect">
            <a:avLst/>
          </a:prstGeom>
          <a:solidFill>
            <a:schemeClr val="bg1"/>
          </a:solidFill>
          <a:ln w="101600">
            <a:solidFill>
              <a:srgbClr val="C64A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rgbClr val="DF9999"/>
              </a:solidFill>
            </a:endParaRPr>
          </a:p>
        </p:txBody>
      </p:sp>
      <p:sp>
        <p:nvSpPr>
          <p:cNvPr id="22" name="TextBox 21">
            <a:extLst>
              <a:ext uri="{FF2B5EF4-FFF2-40B4-BE49-F238E27FC236}">
                <a16:creationId xmlns:a16="http://schemas.microsoft.com/office/drawing/2014/main" id="{66F0739B-D130-76A2-0072-E2ACF696A82C}"/>
              </a:ext>
            </a:extLst>
          </p:cNvPr>
          <p:cNvSpPr txBox="1"/>
          <p:nvPr/>
        </p:nvSpPr>
        <p:spPr>
          <a:xfrm>
            <a:off x="22064449" y="6350081"/>
            <a:ext cx="4073686" cy="4647426"/>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Visuals and downstream analysis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heatmaps and volcano plots with top DEGs to view results.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KEGG analysis was performed using </a:t>
            </a:r>
            <a:r>
              <a:rPr lang="en-US" sz="2400" dirty="0" err="1">
                <a:latin typeface="Times New Roman" panose="02020603050405020304" pitchFamily="18" charset="0"/>
                <a:cs typeface="Times New Roman" panose="02020603050405020304" pitchFamily="18" charset="0"/>
              </a:rPr>
              <a:t>EnrichR</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PPI was made using STRING</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DEGs were validated with known Endometriosis biomarkers</a:t>
            </a:r>
          </a:p>
        </p:txBody>
      </p:sp>
      <p:cxnSp>
        <p:nvCxnSpPr>
          <p:cNvPr id="26" name="Straight Connector 25">
            <a:extLst>
              <a:ext uri="{FF2B5EF4-FFF2-40B4-BE49-F238E27FC236}">
                <a16:creationId xmlns:a16="http://schemas.microsoft.com/office/drawing/2014/main" id="{1759BDED-552C-5245-E087-8D50E6CCD4E1}"/>
              </a:ext>
            </a:extLst>
          </p:cNvPr>
          <p:cNvCxnSpPr>
            <a:cxnSpLocks/>
          </p:cNvCxnSpPr>
          <p:nvPr/>
        </p:nvCxnSpPr>
        <p:spPr>
          <a:xfrm>
            <a:off x="17627241" y="13291872"/>
            <a:ext cx="0" cy="15436579"/>
          </a:xfrm>
          <a:prstGeom prst="line">
            <a:avLst/>
          </a:prstGeom>
          <a:ln w="38100">
            <a:solidFill>
              <a:srgbClr val="7F234D"/>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A0FA9ED-C467-7EB7-4B0E-E99BAE74FADE}"/>
              </a:ext>
            </a:extLst>
          </p:cNvPr>
          <p:cNvSpPr txBox="1"/>
          <p:nvPr/>
        </p:nvSpPr>
        <p:spPr>
          <a:xfrm>
            <a:off x="11637592" y="12411192"/>
            <a:ext cx="4846320" cy="585216"/>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RNA Sequencing</a:t>
            </a:r>
          </a:p>
        </p:txBody>
      </p:sp>
      <p:sp>
        <p:nvSpPr>
          <p:cNvPr id="40" name="TextBox 39">
            <a:extLst>
              <a:ext uri="{FF2B5EF4-FFF2-40B4-BE49-F238E27FC236}">
                <a16:creationId xmlns:a16="http://schemas.microsoft.com/office/drawing/2014/main" id="{A79F2D14-F400-45EC-CA17-FE38C1160FCB}"/>
              </a:ext>
            </a:extLst>
          </p:cNvPr>
          <p:cNvSpPr txBox="1"/>
          <p:nvPr/>
        </p:nvSpPr>
        <p:spPr>
          <a:xfrm>
            <a:off x="20947367" y="12411633"/>
            <a:ext cx="5821679"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Microarray</a:t>
            </a:r>
          </a:p>
        </p:txBody>
      </p:sp>
      <p:pic>
        <p:nvPicPr>
          <p:cNvPr id="44" name="Picture 43">
            <a:extLst>
              <a:ext uri="{FF2B5EF4-FFF2-40B4-BE49-F238E27FC236}">
                <a16:creationId xmlns:a16="http://schemas.microsoft.com/office/drawing/2014/main" id="{15EB65C6-7940-6560-8EC8-F938EE2549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67732" y="13038607"/>
            <a:ext cx="7517183" cy="5737815"/>
          </a:xfrm>
          <a:prstGeom prst="rect">
            <a:avLst/>
          </a:prstGeom>
        </p:spPr>
      </p:pic>
      <p:sp>
        <p:nvSpPr>
          <p:cNvPr id="56" name="TextBox 55">
            <a:extLst>
              <a:ext uri="{FF2B5EF4-FFF2-40B4-BE49-F238E27FC236}">
                <a16:creationId xmlns:a16="http://schemas.microsoft.com/office/drawing/2014/main" id="{CD91E1E0-5A9C-4705-8783-4D858E31E204}"/>
              </a:ext>
            </a:extLst>
          </p:cNvPr>
          <p:cNvSpPr txBox="1"/>
          <p:nvPr/>
        </p:nvSpPr>
        <p:spPr>
          <a:xfrm>
            <a:off x="324979" y="15881219"/>
            <a:ext cx="9318006" cy="7366119"/>
          </a:xfrm>
          <a:prstGeom prst="rect">
            <a:avLst/>
          </a:prstGeom>
          <a:noFill/>
        </p:spPr>
        <p:txBody>
          <a:bodyPr wrap="square" rtlCol="0">
            <a:spAutoFit/>
          </a:bodyPr>
          <a:lstStyle/>
          <a:p>
            <a:pPr marL="0" marR="0">
              <a:spcAft>
                <a:spcPts val="800"/>
              </a:spcAft>
              <a:buNone/>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Endometriosis occurs when tissue similar to the lining of the uterus grows outside the uterus. These growths are called lesions, or ectopic tissue. Ectopic tissue is composed of blood and multiple cell types, including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eMSC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eSF</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Current treatments for endometriosis focus on managing symptoms rather than alleviating the problem itself. These treatments, hormone medication and surgery, are often inadequate, as pain commonly returns after stopping medication, and surgery can sometimes only give temporary relief. This happens because endometriosis is a complex, heterogeneous disease whose phenotype ranges from person to person. The need for precision medicine in endometriosis is significant, but it relies on the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discovery of actionable biomarkers, making it a hard goal to reach. </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goal of this study is to identify potential actionable biomarkers at the transcriptomic level that could later be used in precision medicine.</a:t>
            </a:r>
            <a:endParaRPr lang="en-US" dirty="0"/>
          </a:p>
        </p:txBody>
      </p:sp>
      <p:sp>
        <p:nvSpPr>
          <p:cNvPr id="57" name="Flowchart: Connector 56">
            <a:extLst>
              <a:ext uri="{FF2B5EF4-FFF2-40B4-BE49-F238E27FC236}">
                <a16:creationId xmlns:a16="http://schemas.microsoft.com/office/drawing/2014/main" id="{A4415660-F7F5-7F50-13C7-5A6021CC7333}"/>
              </a:ext>
            </a:extLst>
          </p:cNvPr>
          <p:cNvSpPr/>
          <p:nvPr/>
        </p:nvSpPr>
        <p:spPr>
          <a:xfrm>
            <a:off x="6121233" y="23820230"/>
            <a:ext cx="2545108" cy="2793677"/>
          </a:xfrm>
          <a:prstGeom prst="flowChartConnector">
            <a:avLst/>
          </a:prstGeom>
          <a:solidFill>
            <a:srgbClr val="BE3C64">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ACBDE0D2-87FE-1CE8-4B68-661E74A13BB6}"/>
              </a:ext>
            </a:extLst>
          </p:cNvPr>
          <p:cNvSpPr/>
          <p:nvPr/>
        </p:nvSpPr>
        <p:spPr>
          <a:xfrm>
            <a:off x="9903186" y="6648254"/>
            <a:ext cx="3692769" cy="2252774"/>
          </a:xfrm>
          <a:prstGeom prst="rect">
            <a:avLst/>
          </a:prstGeom>
          <a:solidFill>
            <a:schemeClr val="bg1"/>
          </a:solidFill>
          <a:ln w="101600">
            <a:solidFill>
              <a:srgbClr val="EEC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p>
        </p:txBody>
      </p:sp>
      <p:sp>
        <p:nvSpPr>
          <p:cNvPr id="5" name="TextBox 4">
            <a:extLst>
              <a:ext uri="{FF2B5EF4-FFF2-40B4-BE49-F238E27FC236}">
                <a16:creationId xmlns:a16="http://schemas.microsoft.com/office/drawing/2014/main" id="{0D9175AC-8462-C3DA-3D0F-D3534500FAA6}"/>
              </a:ext>
            </a:extLst>
          </p:cNvPr>
          <p:cNvSpPr txBox="1"/>
          <p:nvPr/>
        </p:nvSpPr>
        <p:spPr>
          <a:xfrm>
            <a:off x="9986798" y="6648254"/>
            <a:ext cx="3498061" cy="2400657"/>
          </a:xfrm>
          <a:prstGeom prst="rect">
            <a:avLst/>
          </a:prstGeom>
          <a:noFill/>
        </p:spPr>
        <p:txBody>
          <a:bodyPr wrap="square" rtlCol="0">
            <a:spAutoFit/>
          </a:bodyPr>
          <a:lstStyle/>
          <a:p>
            <a:r>
              <a:rPr lang="en-US" sz="2600" b="1" dirty="0">
                <a:solidFill>
                  <a:srgbClr val="333333"/>
                </a:solidFill>
                <a:latin typeface="Times New Roman" panose="02020603050405020304" pitchFamily="18" charset="0"/>
                <a:cs typeface="Times New Roman" panose="02020603050405020304" pitchFamily="18" charset="0"/>
              </a:rPr>
              <a:t>Download data</a:t>
            </a:r>
            <a:endParaRPr lang="en-US" sz="2800" b="1" dirty="0">
              <a:solidFill>
                <a:srgbClr val="333333"/>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NCBI GEO</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came normalized. </a:t>
            </a:r>
            <a:r>
              <a:rPr lang="en-US" sz="2400" dirty="0" err="1">
                <a:latin typeface="Times New Roman" panose="02020603050405020304" pitchFamily="18" charset="0"/>
                <a:cs typeface="Times New Roman" panose="02020603050405020304" pitchFamily="18" charset="0"/>
              </a:rPr>
              <a:t>GeneSpring</a:t>
            </a:r>
            <a:r>
              <a:rPr lang="en-US" sz="2400" dirty="0">
                <a:latin typeface="Times New Roman" panose="02020603050405020304" pitchFamily="18" charset="0"/>
                <a:cs typeface="Times New Roman" panose="02020603050405020304" pitchFamily="18" charset="0"/>
              </a:rPr>
              <a:t> software using RMA.</a:t>
            </a:r>
          </a:p>
          <a:p>
            <a:endParaRPr lang="en-US" sz="2800" dirty="0">
              <a:latin typeface="Times New Roman" panose="02020603050405020304" pitchFamily="18" charset="0"/>
              <a:cs typeface="Times New Roman" panose="02020603050405020304" pitchFamily="18" charset="0"/>
            </a:endParaRPr>
          </a:p>
        </p:txBody>
      </p:sp>
      <p:sp>
        <p:nvSpPr>
          <p:cNvPr id="63" name="Flowchart: Connector 62">
            <a:extLst>
              <a:ext uri="{FF2B5EF4-FFF2-40B4-BE49-F238E27FC236}">
                <a16:creationId xmlns:a16="http://schemas.microsoft.com/office/drawing/2014/main" id="{15EF5330-7C7D-3A9D-C8B4-F4EA010DF38E}"/>
              </a:ext>
            </a:extLst>
          </p:cNvPr>
          <p:cNvSpPr/>
          <p:nvPr/>
        </p:nvSpPr>
        <p:spPr>
          <a:xfrm>
            <a:off x="6895976" y="25361238"/>
            <a:ext cx="2545108" cy="2905524"/>
          </a:xfrm>
          <a:prstGeom prst="flowChartConnector">
            <a:avLst/>
          </a:prstGeom>
          <a:solidFill>
            <a:srgbClr val="7030A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 name="Flowchart: Connector 1023">
            <a:extLst>
              <a:ext uri="{FF2B5EF4-FFF2-40B4-BE49-F238E27FC236}">
                <a16:creationId xmlns:a16="http://schemas.microsoft.com/office/drawing/2014/main" id="{E295E5F7-B002-59CC-FBFE-06C1F0C115FE}"/>
              </a:ext>
            </a:extLst>
          </p:cNvPr>
          <p:cNvSpPr/>
          <p:nvPr/>
        </p:nvSpPr>
        <p:spPr>
          <a:xfrm>
            <a:off x="5477753" y="25307215"/>
            <a:ext cx="2545108" cy="2938230"/>
          </a:xfrm>
          <a:prstGeom prst="flowChartConnector">
            <a:avLst/>
          </a:prstGeom>
          <a:solidFill>
            <a:srgbClr val="DF9999">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5" name="TextBox 1024">
            <a:extLst>
              <a:ext uri="{FF2B5EF4-FFF2-40B4-BE49-F238E27FC236}">
                <a16:creationId xmlns:a16="http://schemas.microsoft.com/office/drawing/2014/main" id="{3A0499D9-86A7-30B4-0957-876A070BD349}"/>
              </a:ext>
            </a:extLst>
          </p:cNvPr>
          <p:cNvSpPr txBox="1"/>
          <p:nvPr/>
        </p:nvSpPr>
        <p:spPr>
          <a:xfrm>
            <a:off x="8067059" y="26864504"/>
            <a:ext cx="17119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Statistics</a:t>
            </a:r>
          </a:p>
        </p:txBody>
      </p:sp>
      <p:sp>
        <p:nvSpPr>
          <p:cNvPr id="1026" name="TextBox 1025">
            <a:extLst>
              <a:ext uri="{FF2B5EF4-FFF2-40B4-BE49-F238E27FC236}">
                <a16:creationId xmlns:a16="http://schemas.microsoft.com/office/drawing/2014/main" id="{D218B3D8-C828-5225-B531-D96CCA538FA8}"/>
              </a:ext>
            </a:extLst>
          </p:cNvPr>
          <p:cNvSpPr txBox="1"/>
          <p:nvPr/>
        </p:nvSpPr>
        <p:spPr>
          <a:xfrm>
            <a:off x="5374919" y="26881336"/>
            <a:ext cx="17119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Biology</a:t>
            </a:r>
          </a:p>
        </p:txBody>
      </p:sp>
      <p:sp>
        <p:nvSpPr>
          <p:cNvPr id="1027" name="TextBox 1026">
            <a:extLst>
              <a:ext uri="{FF2B5EF4-FFF2-40B4-BE49-F238E27FC236}">
                <a16:creationId xmlns:a16="http://schemas.microsoft.com/office/drawing/2014/main" id="{116F59E5-866B-5F84-0691-7B7622AF27D0}"/>
              </a:ext>
            </a:extLst>
          </p:cNvPr>
          <p:cNvSpPr txBox="1"/>
          <p:nvPr/>
        </p:nvSpPr>
        <p:spPr>
          <a:xfrm>
            <a:off x="6565052" y="24331838"/>
            <a:ext cx="1711951" cy="954107"/>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Computer science</a:t>
            </a:r>
          </a:p>
        </p:txBody>
      </p:sp>
      <p:sp>
        <p:nvSpPr>
          <p:cNvPr id="1028" name="TextBox 1027">
            <a:extLst>
              <a:ext uri="{FF2B5EF4-FFF2-40B4-BE49-F238E27FC236}">
                <a16:creationId xmlns:a16="http://schemas.microsoft.com/office/drawing/2014/main" id="{1F66913F-071B-B4A1-357D-E84351E1FE74}"/>
              </a:ext>
            </a:extLst>
          </p:cNvPr>
          <p:cNvSpPr txBox="1"/>
          <p:nvPr/>
        </p:nvSpPr>
        <p:spPr>
          <a:xfrm>
            <a:off x="7780666" y="25437880"/>
            <a:ext cx="1428968"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Data science</a:t>
            </a:r>
          </a:p>
        </p:txBody>
      </p:sp>
      <p:sp>
        <p:nvSpPr>
          <p:cNvPr id="1029" name="TextBox 1028">
            <a:extLst>
              <a:ext uri="{FF2B5EF4-FFF2-40B4-BE49-F238E27FC236}">
                <a16:creationId xmlns:a16="http://schemas.microsoft.com/office/drawing/2014/main" id="{309C65C3-23CC-BC7D-7745-791944EB1DBB}"/>
              </a:ext>
            </a:extLst>
          </p:cNvPr>
          <p:cNvSpPr txBox="1"/>
          <p:nvPr/>
        </p:nvSpPr>
        <p:spPr>
          <a:xfrm>
            <a:off x="6830050" y="27149146"/>
            <a:ext cx="146154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Biostatistics</a:t>
            </a:r>
          </a:p>
        </p:txBody>
      </p:sp>
      <p:sp>
        <p:nvSpPr>
          <p:cNvPr id="1030" name="TextBox 1029">
            <a:extLst>
              <a:ext uri="{FF2B5EF4-FFF2-40B4-BE49-F238E27FC236}">
                <a16:creationId xmlns:a16="http://schemas.microsoft.com/office/drawing/2014/main" id="{D2DE2D4A-1990-8BA3-05A2-11C831BBE8B3}"/>
              </a:ext>
            </a:extLst>
          </p:cNvPr>
          <p:cNvSpPr txBox="1"/>
          <p:nvPr/>
        </p:nvSpPr>
        <p:spPr>
          <a:xfrm>
            <a:off x="5863853" y="25496791"/>
            <a:ext cx="1711951" cy="615553"/>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Computational                       biology</a:t>
            </a:r>
          </a:p>
        </p:txBody>
      </p:sp>
      <p:sp>
        <p:nvSpPr>
          <p:cNvPr id="1031" name="Rectangle 1030">
            <a:extLst>
              <a:ext uri="{FF2B5EF4-FFF2-40B4-BE49-F238E27FC236}">
                <a16:creationId xmlns:a16="http://schemas.microsoft.com/office/drawing/2014/main" id="{C7081E88-8553-08B4-EBE2-28FD4328C33C}"/>
              </a:ext>
            </a:extLst>
          </p:cNvPr>
          <p:cNvSpPr/>
          <p:nvPr/>
        </p:nvSpPr>
        <p:spPr>
          <a:xfrm>
            <a:off x="6028788" y="26198447"/>
            <a:ext cx="2964830" cy="615553"/>
          </a:xfrm>
          <a:prstGeom prst="rect">
            <a:avLst/>
          </a:prstGeom>
          <a:solidFill>
            <a:srgbClr val="7F23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TextBox 1031">
            <a:extLst>
              <a:ext uri="{FF2B5EF4-FFF2-40B4-BE49-F238E27FC236}">
                <a16:creationId xmlns:a16="http://schemas.microsoft.com/office/drawing/2014/main" id="{9D96E233-68CE-A27C-A9E6-135D81D1AE9B}"/>
              </a:ext>
            </a:extLst>
          </p:cNvPr>
          <p:cNvSpPr txBox="1"/>
          <p:nvPr/>
        </p:nvSpPr>
        <p:spPr>
          <a:xfrm>
            <a:off x="6046820" y="26167578"/>
            <a:ext cx="2983741"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Bioinformatics</a:t>
            </a:r>
          </a:p>
        </p:txBody>
      </p:sp>
      <p:pic>
        <p:nvPicPr>
          <p:cNvPr id="1046" name="Picture 1045">
            <a:extLst>
              <a:ext uri="{FF2B5EF4-FFF2-40B4-BE49-F238E27FC236}">
                <a16:creationId xmlns:a16="http://schemas.microsoft.com/office/drawing/2014/main" id="{ADDD6F9B-6C79-7165-53DE-502F8CEEA3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96989" y="19290258"/>
            <a:ext cx="6886611" cy="4958359"/>
          </a:xfrm>
          <a:prstGeom prst="rect">
            <a:avLst/>
          </a:prstGeom>
        </p:spPr>
      </p:pic>
      <p:pic>
        <p:nvPicPr>
          <p:cNvPr id="1048" name="Picture 1047">
            <a:extLst>
              <a:ext uri="{FF2B5EF4-FFF2-40B4-BE49-F238E27FC236}">
                <a16:creationId xmlns:a16="http://schemas.microsoft.com/office/drawing/2014/main" id="{92754FB0-485B-CEC7-B590-6E4D874844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11600" y="19343334"/>
            <a:ext cx="6838707" cy="4903352"/>
          </a:xfrm>
          <a:prstGeom prst="rect">
            <a:avLst/>
          </a:prstGeom>
        </p:spPr>
      </p:pic>
      <p:sp>
        <p:nvSpPr>
          <p:cNvPr id="1049" name="TextBox 1048">
            <a:extLst>
              <a:ext uri="{FF2B5EF4-FFF2-40B4-BE49-F238E27FC236}">
                <a16:creationId xmlns:a16="http://schemas.microsoft.com/office/drawing/2014/main" id="{38D7F165-A7FC-0A38-CB54-F737B5932E26}"/>
              </a:ext>
            </a:extLst>
          </p:cNvPr>
          <p:cNvSpPr txBox="1"/>
          <p:nvPr/>
        </p:nvSpPr>
        <p:spPr>
          <a:xfrm>
            <a:off x="17805798" y="23849857"/>
            <a:ext cx="5521559" cy="646331"/>
          </a:xfrm>
          <a:prstGeom prst="rect">
            <a:avLst/>
          </a:prstGeom>
          <a:noFill/>
        </p:spPr>
        <p:txBody>
          <a:bodyPr wrap="square" rtlCol="0">
            <a:spAutoFit/>
          </a:bodyPr>
          <a:lstStyle/>
          <a:p>
            <a:r>
              <a:rPr lang="en-US" b="1" dirty="0"/>
              <a:t>Figure 5.2. Endometriosis vs Control expression in volcano plot</a:t>
            </a:r>
          </a:p>
        </p:txBody>
      </p:sp>
      <p:sp>
        <p:nvSpPr>
          <p:cNvPr id="1050" name="TextBox 1049">
            <a:extLst>
              <a:ext uri="{FF2B5EF4-FFF2-40B4-BE49-F238E27FC236}">
                <a16:creationId xmlns:a16="http://schemas.microsoft.com/office/drawing/2014/main" id="{353F3D6A-AEEF-3400-DAB0-14CE98822AAB}"/>
              </a:ext>
            </a:extLst>
          </p:cNvPr>
          <p:cNvSpPr txBox="1"/>
          <p:nvPr/>
        </p:nvSpPr>
        <p:spPr>
          <a:xfrm>
            <a:off x="17805798" y="18665001"/>
            <a:ext cx="6261553" cy="369332"/>
          </a:xfrm>
          <a:prstGeom prst="rect">
            <a:avLst/>
          </a:prstGeom>
          <a:noFill/>
        </p:spPr>
        <p:txBody>
          <a:bodyPr wrap="square" rtlCol="0">
            <a:spAutoFit/>
          </a:bodyPr>
          <a:lstStyle/>
          <a:p>
            <a:r>
              <a:rPr lang="en-US" b="1" dirty="0"/>
              <a:t>Figure 4.2.  DEGs in Endometriosis vs Control heatmap</a:t>
            </a:r>
          </a:p>
        </p:txBody>
      </p:sp>
      <p:pic>
        <p:nvPicPr>
          <p:cNvPr id="1052" name="Picture 1051">
            <a:extLst>
              <a:ext uri="{FF2B5EF4-FFF2-40B4-BE49-F238E27FC236}">
                <a16:creationId xmlns:a16="http://schemas.microsoft.com/office/drawing/2014/main" id="{7E6A219E-AE72-FC08-87D1-B4E24D3BDD1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034996" y="13007721"/>
            <a:ext cx="7789125" cy="5754900"/>
          </a:xfrm>
          <a:prstGeom prst="rect">
            <a:avLst/>
          </a:prstGeom>
        </p:spPr>
      </p:pic>
      <p:sp>
        <p:nvSpPr>
          <p:cNvPr id="1053" name="TextBox 1052">
            <a:extLst>
              <a:ext uri="{FF2B5EF4-FFF2-40B4-BE49-F238E27FC236}">
                <a16:creationId xmlns:a16="http://schemas.microsoft.com/office/drawing/2014/main" id="{F7F50F99-F902-BF71-E0C1-984E8C9F2815}"/>
              </a:ext>
            </a:extLst>
          </p:cNvPr>
          <p:cNvSpPr txBox="1"/>
          <p:nvPr/>
        </p:nvSpPr>
        <p:spPr>
          <a:xfrm>
            <a:off x="10227998" y="23849857"/>
            <a:ext cx="5664232" cy="646331"/>
          </a:xfrm>
          <a:prstGeom prst="rect">
            <a:avLst/>
          </a:prstGeom>
          <a:noFill/>
        </p:spPr>
        <p:txBody>
          <a:bodyPr wrap="square" rtlCol="0">
            <a:spAutoFit/>
          </a:bodyPr>
          <a:lstStyle/>
          <a:p>
            <a:r>
              <a:rPr lang="en-US" b="1" dirty="0"/>
              <a:t>Figure 5.1. Ectopic vs Eutopic expression in volcano plot</a:t>
            </a:r>
          </a:p>
        </p:txBody>
      </p:sp>
      <p:sp>
        <p:nvSpPr>
          <p:cNvPr id="1054" name="TextBox 1053">
            <a:extLst>
              <a:ext uri="{FF2B5EF4-FFF2-40B4-BE49-F238E27FC236}">
                <a16:creationId xmlns:a16="http://schemas.microsoft.com/office/drawing/2014/main" id="{287BE4EE-1C65-EA3A-7BBC-98907F551DE2}"/>
              </a:ext>
            </a:extLst>
          </p:cNvPr>
          <p:cNvSpPr txBox="1"/>
          <p:nvPr/>
        </p:nvSpPr>
        <p:spPr>
          <a:xfrm>
            <a:off x="10118510" y="18721828"/>
            <a:ext cx="6089230" cy="369332"/>
          </a:xfrm>
          <a:prstGeom prst="rect">
            <a:avLst/>
          </a:prstGeom>
          <a:noFill/>
        </p:spPr>
        <p:txBody>
          <a:bodyPr wrap="square" rtlCol="0">
            <a:spAutoFit/>
          </a:bodyPr>
          <a:lstStyle/>
          <a:p>
            <a:r>
              <a:rPr lang="en-US" b="1" dirty="0"/>
              <a:t>Figure 4.1. Top 20 DEGs in Ectopic vs Eutopic heatmap</a:t>
            </a:r>
          </a:p>
        </p:txBody>
      </p:sp>
      <p:pic>
        <p:nvPicPr>
          <p:cNvPr id="1056" name="Picture 1055">
            <a:extLst>
              <a:ext uri="{FF2B5EF4-FFF2-40B4-BE49-F238E27FC236}">
                <a16:creationId xmlns:a16="http://schemas.microsoft.com/office/drawing/2014/main" id="{6061EB5D-03ED-2459-F7AF-1EEF13DA0B2F}"/>
              </a:ext>
            </a:extLst>
          </p:cNvPr>
          <p:cNvPicPr>
            <a:picLocks noChangeAspect="1"/>
          </p:cNvPicPr>
          <p:nvPr/>
        </p:nvPicPr>
        <p:blipFill>
          <a:blip r:embed="rId9"/>
          <a:stretch>
            <a:fillRect/>
          </a:stretch>
        </p:blipFill>
        <p:spPr>
          <a:xfrm>
            <a:off x="10222078" y="24512966"/>
            <a:ext cx="7153201" cy="2981840"/>
          </a:xfrm>
          <a:prstGeom prst="rect">
            <a:avLst/>
          </a:prstGeom>
        </p:spPr>
      </p:pic>
      <p:pic>
        <p:nvPicPr>
          <p:cNvPr id="52" name="Picture 51">
            <a:extLst>
              <a:ext uri="{FF2B5EF4-FFF2-40B4-BE49-F238E27FC236}">
                <a16:creationId xmlns:a16="http://schemas.microsoft.com/office/drawing/2014/main" id="{0E0197C2-1188-50A8-C294-4D5CF187E43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157339" y="24885151"/>
            <a:ext cx="5410867" cy="2924643"/>
          </a:xfrm>
          <a:prstGeom prst="rect">
            <a:avLst/>
          </a:prstGeom>
        </p:spPr>
      </p:pic>
      <p:pic>
        <p:nvPicPr>
          <p:cNvPr id="1058" name="Picture 1057">
            <a:extLst>
              <a:ext uri="{FF2B5EF4-FFF2-40B4-BE49-F238E27FC236}">
                <a16:creationId xmlns:a16="http://schemas.microsoft.com/office/drawing/2014/main" id="{1EDFC2A2-57EC-BD46-1931-B36FB8F423F7}"/>
              </a:ext>
            </a:extLst>
          </p:cNvPr>
          <p:cNvPicPr>
            <a:picLocks noChangeAspect="1"/>
          </p:cNvPicPr>
          <p:nvPr/>
        </p:nvPicPr>
        <p:blipFill>
          <a:blip r:embed="rId11"/>
          <a:stretch>
            <a:fillRect/>
          </a:stretch>
        </p:blipFill>
        <p:spPr>
          <a:xfrm>
            <a:off x="17852213" y="24655800"/>
            <a:ext cx="7291612" cy="3000494"/>
          </a:xfrm>
          <a:prstGeom prst="rect">
            <a:avLst/>
          </a:prstGeom>
        </p:spPr>
      </p:pic>
      <p:pic>
        <p:nvPicPr>
          <p:cNvPr id="50" name="Picture 49">
            <a:extLst>
              <a:ext uri="{FF2B5EF4-FFF2-40B4-BE49-F238E27FC236}">
                <a16:creationId xmlns:a16="http://schemas.microsoft.com/office/drawing/2014/main" id="{891E81C3-D95E-64EF-0530-B394C1D7FB5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936560" y="25220244"/>
            <a:ext cx="4595857" cy="2898925"/>
          </a:xfrm>
          <a:prstGeom prst="rect">
            <a:avLst/>
          </a:prstGeom>
        </p:spPr>
      </p:pic>
      <p:sp>
        <p:nvSpPr>
          <p:cNvPr id="1059" name="TextBox 1058">
            <a:extLst>
              <a:ext uri="{FF2B5EF4-FFF2-40B4-BE49-F238E27FC236}">
                <a16:creationId xmlns:a16="http://schemas.microsoft.com/office/drawing/2014/main" id="{E2C33209-9A97-11AC-A68D-2BC7D53E2534}"/>
              </a:ext>
            </a:extLst>
          </p:cNvPr>
          <p:cNvSpPr txBox="1"/>
          <p:nvPr/>
        </p:nvSpPr>
        <p:spPr>
          <a:xfrm>
            <a:off x="17681573" y="28082120"/>
            <a:ext cx="8583600" cy="646331"/>
          </a:xfrm>
          <a:prstGeom prst="rect">
            <a:avLst/>
          </a:prstGeom>
          <a:noFill/>
        </p:spPr>
        <p:txBody>
          <a:bodyPr wrap="square" rtlCol="0">
            <a:spAutoFit/>
          </a:bodyPr>
          <a:lstStyle/>
          <a:p>
            <a:r>
              <a:rPr lang="en-US" b="1" dirty="0"/>
              <a:t>Figure 6.2 Microarray data KEGG enriched pathways and Figure 7.2 STRING PPI network</a:t>
            </a:r>
          </a:p>
        </p:txBody>
      </p:sp>
      <p:sp>
        <p:nvSpPr>
          <p:cNvPr id="1060" name="TextBox 1059">
            <a:extLst>
              <a:ext uri="{FF2B5EF4-FFF2-40B4-BE49-F238E27FC236}">
                <a16:creationId xmlns:a16="http://schemas.microsoft.com/office/drawing/2014/main" id="{666165C2-9D30-9A0A-77BC-4A0C30D55D0F}"/>
              </a:ext>
            </a:extLst>
          </p:cNvPr>
          <p:cNvSpPr txBox="1"/>
          <p:nvPr/>
        </p:nvSpPr>
        <p:spPr>
          <a:xfrm>
            <a:off x="10016613" y="28075667"/>
            <a:ext cx="8112180" cy="646331"/>
          </a:xfrm>
          <a:prstGeom prst="rect">
            <a:avLst/>
          </a:prstGeom>
          <a:noFill/>
        </p:spPr>
        <p:txBody>
          <a:bodyPr wrap="square" rtlCol="0">
            <a:spAutoFit/>
          </a:bodyPr>
          <a:lstStyle/>
          <a:p>
            <a:r>
              <a:rPr lang="en-US" b="1" dirty="0"/>
              <a:t>Figure 6.1 RNA sequencing data KEGG enriched pathways and figure 7.1 STRING PPI network </a:t>
            </a:r>
          </a:p>
        </p:txBody>
      </p:sp>
      <p:sp>
        <p:nvSpPr>
          <p:cNvPr id="3" name="Rectangle 2">
            <a:extLst>
              <a:ext uri="{FF2B5EF4-FFF2-40B4-BE49-F238E27FC236}">
                <a16:creationId xmlns:a16="http://schemas.microsoft.com/office/drawing/2014/main" id="{A43ECBF7-AAB5-BEF9-A0DD-0F35AE62B832}"/>
              </a:ext>
            </a:extLst>
          </p:cNvPr>
          <p:cNvSpPr/>
          <p:nvPr/>
        </p:nvSpPr>
        <p:spPr>
          <a:xfrm>
            <a:off x="13798311" y="9106284"/>
            <a:ext cx="7858492" cy="2746768"/>
          </a:xfrm>
          <a:prstGeom prst="rect">
            <a:avLst/>
          </a:prstGeom>
          <a:solidFill>
            <a:schemeClr val="bg1"/>
          </a:solidFill>
          <a:ln w="101600">
            <a:solidFill>
              <a:srgbClr val="D987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46" dirty="0">
              <a:solidFill>
                <a:schemeClr val="bg1"/>
              </a:solidFill>
            </a:endParaRPr>
          </a:p>
        </p:txBody>
      </p:sp>
      <p:sp>
        <p:nvSpPr>
          <p:cNvPr id="37" name="TextBox 36">
            <a:extLst>
              <a:ext uri="{FF2B5EF4-FFF2-40B4-BE49-F238E27FC236}">
                <a16:creationId xmlns:a16="http://schemas.microsoft.com/office/drawing/2014/main" id="{B6CAFABE-2FB9-2933-8D23-9215EDBB766D}"/>
              </a:ext>
            </a:extLst>
          </p:cNvPr>
          <p:cNvSpPr txBox="1"/>
          <p:nvPr/>
        </p:nvSpPr>
        <p:spPr>
          <a:xfrm>
            <a:off x="10003807" y="9574740"/>
            <a:ext cx="3709470" cy="2308324"/>
          </a:xfrm>
          <a:prstGeom prst="rect">
            <a:avLst/>
          </a:prstGeom>
          <a:noFill/>
        </p:spPr>
        <p:txBody>
          <a:bodyPr wrap="square" rtlCol="0">
            <a:spAutoFit/>
          </a:bodyPr>
          <a:lstStyle/>
          <a:p>
            <a:r>
              <a:rPr lang="en-US" sz="2600" b="1" dirty="0">
                <a:solidFill>
                  <a:schemeClr val="tx1">
                    <a:lumMod val="75000"/>
                    <a:lumOff val="25000"/>
                  </a:schemeClr>
                </a:solidFill>
                <a:latin typeface="Times New Roman" panose="02020603050405020304" pitchFamily="18" charset="0"/>
                <a:cs typeface="Times New Roman" panose="02020603050405020304" pitchFamily="18" charset="0"/>
              </a:rPr>
              <a:t>Download data and preparation</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NCBI GEO </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 count matrix</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Group data</a:t>
            </a:r>
          </a:p>
          <a:p>
            <a:endParaRPr lang="en-US" dirty="0"/>
          </a:p>
        </p:txBody>
      </p:sp>
      <p:sp>
        <p:nvSpPr>
          <p:cNvPr id="38" name="TextBox 37">
            <a:extLst>
              <a:ext uri="{FF2B5EF4-FFF2-40B4-BE49-F238E27FC236}">
                <a16:creationId xmlns:a16="http://schemas.microsoft.com/office/drawing/2014/main" id="{A1BBC6F8-6798-7426-1CF9-03B2AF7F576B}"/>
              </a:ext>
            </a:extLst>
          </p:cNvPr>
          <p:cNvSpPr txBox="1"/>
          <p:nvPr/>
        </p:nvSpPr>
        <p:spPr>
          <a:xfrm>
            <a:off x="13937489" y="9080244"/>
            <a:ext cx="7647261" cy="3016210"/>
          </a:xfrm>
          <a:prstGeom prst="rect">
            <a:avLst/>
          </a:prstGeom>
          <a:noFill/>
        </p:spPr>
        <p:txBody>
          <a:bodyPr wrap="square" rtlCol="0">
            <a:spAutoFit/>
          </a:bodyPr>
          <a:lstStyle/>
          <a:p>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Differential analysis</a:t>
            </a:r>
            <a:endParaRPr lang="en-US" sz="28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Using DEseq2 package to build </a:t>
            </a:r>
            <a:r>
              <a:rPr lang="en-US" sz="2400" dirty="0" err="1">
                <a:latin typeface="Times New Roman" panose="02020603050405020304" pitchFamily="18" charset="0"/>
                <a:cs typeface="Times New Roman" panose="02020603050405020304" pitchFamily="18" charset="0"/>
              </a:rPr>
              <a:t>DEseq</a:t>
            </a:r>
            <a:r>
              <a:rPr lang="en-US" sz="2400" dirty="0">
                <a:latin typeface="Times New Roman" panose="02020603050405020304" pitchFamily="18" charset="0"/>
                <a:cs typeface="Times New Roman" panose="02020603050405020304" pitchFamily="18" charset="0"/>
              </a:rPr>
              <a:t> object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remove genes with low counts and set factor level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PCA</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Annotate with gene symbol</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data with DEseq2 package, use </a:t>
            </a:r>
            <a:r>
              <a:rPr lang="en-US" sz="2400" dirty="0" err="1">
                <a:latin typeface="Times New Roman" panose="02020603050405020304" pitchFamily="18" charset="0"/>
                <a:cs typeface="Times New Roman" panose="02020603050405020304" pitchFamily="18" charset="0"/>
              </a:rPr>
              <a:t>LogFC</a:t>
            </a:r>
            <a:r>
              <a:rPr lang="en-US" sz="2400" dirty="0">
                <a:latin typeface="Times New Roman" panose="02020603050405020304" pitchFamily="18" charset="0"/>
                <a:cs typeface="Times New Roman" panose="02020603050405020304" pitchFamily="18" charset="0"/>
              </a:rPr>
              <a:t> cutoff &gt;0.1 and adjusted P value &lt;0.05</a:t>
            </a:r>
          </a:p>
          <a:p>
            <a:pPr marL="285750" indent="-285750">
              <a:buFont typeface="Arial" panose="020B0604020202020204" pitchFamily="34" charset="0"/>
              <a:buChar char="•"/>
            </a:pPr>
            <a:endParaRPr lang="en-US" dirty="0"/>
          </a:p>
        </p:txBody>
      </p:sp>
      <p:sp>
        <p:nvSpPr>
          <p:cNvPr id="39" name="TextBox 38">
            <a:extLst>
              <a:ext uri="{FF2B5EF4-FFF2-40B4-BE49-F238E27FC236}">
                <a16:creationId xmlns:a16="http://schemas.microsoft.com/office/drawing/2014/main" id="{1F3C917D-706E-D594-9188-4645C6BD646F}"/>
              </a:ext>
            </a:extLst>
          </p:cNvPr>
          <p:cNvSpPr txBox="1"/>
          <p:nvPr/>
        </p:nvSpPr>
        <p:spPr>
          <a:xfrm>
            <a:off x="9871530" y="6100885"/>
            <a:ext cx="5105102" cy="107721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Micro array data:</a:t>
            </a:r>
          </a:p>
          <a:p>
            <a:endParaRPr lang="en-US" sz="3200" dirty="0"/>
          </a:p>
        </p:txBody>
      </p:sp>
      <p:sp>
        <p:nvSpPr>
          <p:cNvPr id="41" name="TextBox 40">
            <a:extLst>
              <a:ext uri="{FF2B5EF4-FFF2-40B4-BE49-F238E27FC236}">
                <a16:creationId xmlns:a16="http://schemas.microsoft.com/office/drawing/2014/main" id="{EB81FE59-05DC-0CD0-927D-3B38A6062BF8}"/>
              </a:ext>
            </a:extLst>
          </p:cNvPr>
          <p:cNvSpPr txBox="1"/>
          <p:nvPr/>
        </p:nvSpPr>
        <p:spPr>
          <a:xfrm>
            <a:off x="9988065" y="8840004"/>
            <a:ext cx="324460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RNA seq data:</a:t>
            </a:r>
          </a:p>
        </p:txBody>
      </p:sp>
      <p:sp>
        <p:nvSpPr>
          <p:cNvPr id="43" name="Arrow: Right 42">
            <a:extLst>
              <a:ext uri="{FF2B5EF4-FFF2-40B4-BE49-F238E27FC236}">
                <a16:creationId xmlns:a16="http://schemas.microsoft.com/office/drawing/2014/main" id="{1D862CDA-BAF6-5D18-007C-F232EC6A601F}"/>
              </a:ext>
            </a:extLst>
          </p:cNvPr>
          <p:cNvSpPr/>
          <p:nvPr/>
        </p:nvSpPr>
        <p:spPr>
          <a:xfrm>
            <a:off x="13402218" y="8704297"/>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0607C031-55E0-3D17-CB94-5BB8724E16FF}"/>
              </a:ext>
            </a:extLst>
          </p:cNvPr>
          <p:cNvSpPr/>
          <p:nvPr/>
        </p:nvSpPr>
        <p:spPr>
          <a:xfrm>
            <a:off x="21545004" y="8711706"/>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30E8E046-CC58-60CC-F4BC-20DBA28E9138}"/>
              </a:ext>
            </a:extLst>
          </p:cNvPr>
          <p:cNvSpPr/>
          <p:nvPr/>
        </p:nvSpPr>
        <p:spPr>
          <a:xfrm>
            <a:off x="17568551" y="8363589"/>
            <a:ext cx="601251" cy="633321"/>
          </a:xfrm>
          <a:prstGeom prst="rightArrow">
            <a:avLst/>
          </a:prstGeom>
          <a:solidFill>
            <a:srgbClr val="7F23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B655D479-A8BD-0543-D9B8-BA30E6F84B61}"/>
              </a:ext>
            </a:extLst>
          </p:cNvPr>
          <p:cNvSpPr txBox="1"/>
          <p:nvPr/>
        </p:nvSpPr>
        <p:spPr>
          <a:xfrm>
            <a:off x="26575358" y="6404665"/>
            <a:ext cx="9194282" cy="10002738"/>
          </a:xfrm>
          <a:prstGeom prst="rect">
            <a:avLst/>
          </a:prstGeom>
          <a:noFill/>
        </p:spPr>
        <p:txBody>
          <a:bodyPr wrap="square" rtlCol="0">
            <a:spAutoFit/>
          </a:bodyPr>
          <a:lstStyle/>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During this analysis,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o</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ut of 25,257 genes, microarray data identified 8 upregulated genes and 1 downregulated gene.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On the other hand, </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with the same cutoffs , out of 23,565 genes RNA-seq data identified 6561 upregulated genes, with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FIBIN</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as the top two, and 6868 downregulated genes, with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ELAPOR1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as the top two. Kyoto Encyclopedia of Genes and Genomes (KEGG) pathway enrichment analysis reveals the connection significant genes have on other pathways in our body. Within the RNA-seq dataset, genes strongly associated with these enriched pathways that also met significance thresholds included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CFH</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CR1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Notably,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COL10A1</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CFH</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a:t>
            </a:r>
            <a:r>
              <a:rPr lang="en-US" sz="2800" i="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FOXA2</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are established potential biomarkers for endometriosis (Chen, et al., 2026), (Bae, et al., 2022), (Lin, et al., 2018), supporting the biological validity of the ectop</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ic vs Eutopic tissue analysis</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PPI network analysis using STRING illustrated the functional interactions between these genes. Notably, there was no overlap in DEGs between the two datasets, likely due to differences in the tissue and cell types each was derived from. Collectively, these findings suggest that the identified genes may serve as potential actionable biomarkers to support future precision medicine approaches for endometriosis.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CDB2E92B-625C-8C3D-11FB-E6C81F17AA0F}"/>
              </a:ext>
            </a:extLst>
          </p:cNvPr>
          <p:cNvSpPr txBox="1"/>
          <p:nvPr/>
        </p:nvSpPr>
        <p:spPr>
          <a:xfrm>
            <a:off x="29948470" y="20784449"/>
            <a:ext cx="5196840" cy="769441"/>
          </a:xfrm>
          <a:prstGeom prst="rect">
            <a:avLst/>
          </a:prstGeom>
          <a:noFill/>
        </p:spPr>
        <p:txBody>
          <a:bodyPr wrap="square" rtlCol="0">
            <a:spAutoFit/>
          </a:bodyPr>
          <a:lstStyle/>
          <a:p>
            <a:r>
              <a:rPr lang="en-US" sz="4400" u="sng" dirty="0">
                <a:latin typeface="Times New Roman" panose="02020603050405020304" pitchFamily="18" charset="0"/>
                <a:cs typeface="Times New Roman" panose="02020603050405020304" pitchFamily="18" charset="0"/>
              </a:rPr>
              <a:t>References</a:t>
            </a:r>
          </a:p>
        </p:txBody>
      </p:sp>
      <p:sp>
        <p:nvSpPr>
          <p:cNvPr id="34" name="TextBox 33">
            <a:extLst>
              <a:ext uri="{FF2B5EF4-FFF2-40B4-BE49-F238E27FC236}">
                <a16:creationId xmlns:a16="http://schemas.microsoft.com/office/drawing/2014/main" id="{ADCB8ED2-0C21-F289-4B36-A60100E02159}"/>
              </a:ext>
            </a:extLst>
          </p:cNvPr>
          <p:cNvSpPr txBox="1"/>
          <p:nvPr/>
        </p:nvSpPr>
        <p:spPr>
          <a:xfrm>
            <a:off x="29447194" y="18288297"/>
            <a:ext cx="5441639"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Future direction</a:t>
            </a:r>
          </a:p>
        </p:txBody>
      </p:sp>
      <p:pic>
        <p:nvPicPr>
          <p:cNvPr id="49" name="Picture 48">
            <a:extLst>
              <a:ext uri="{FF2B5EF4-FFF2-40B4-BE49-F238E27FC236}">
                <a16:creationId xmlns:a16="http://schemas.microsoft.com/office/drawing/2014/main" id="{143EE0B9-51D1-B79D-B00D-A13834E47BE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63922" y="23835954"/>
            <a:ext cx="3710065" cy="4452078"/>
          </a:xfrm>
          <a:prstGeom prst="rect">
            <a:avLst/>
          </a:prstGeom>
        </p:spPr>
      </p:pic>
      <p:sp>
        <p:nvSpPr>
          <p:cNvPr id="51" name="TextBox 50">
            <a:extLst>
              <a:ext uri="{FF2B5EF4-FFF2-40B4-BE49-F238E27FC236}">
                <a16:creationId xmlns:a16="http://schemas.microsoft.com/office/drawing/2014/main" id="{7AAA4818-ADFB-7BEE-1528-EB069E45EAE5}"/>
              </a:ext>
            </a:extLst>
          </p:cNvPr>
          <p:cNvSpPr txBox="1"/>
          <p:nvPr/>
        </p:nvSpPr>
        <p:spPr>
          <a:xfrm>
            <a:off x="26502989" y="21708654"/>
            <a:ext cx="9498168" cy="7458452"/>
          </a:xfrm>
          <a:prstGeom prst="rect">
            <a:avLst/>
          </a:prstGeom>
          <a:noFill/>
        </p:spPr>
        <p:txBody>
          <a:bodyPr wrap="square" rtlCol="0">
            <a:spAutoFit/>
          </a:bodyPr>
          <a:lstStyle/>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Barragan F, Irwin JC, Balayan S, Erikson DW, Chen JC, </a:t>
            </a:r>
            <a:r>
              <a:rPr lang="en-US"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Houshdaran</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S, </a:t>
            </a:r>
            <a:r>
              <a:rPr lang="en-US"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Piltonen</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TT, Spitzer TL, George A, Rabban JT, Nezhat C, Giudice LC. (2016).  Human Endometrial Fibroblasts Derived from Mesenchymal Progenitors Inherit Progesterone Resistance and Acquire an Inflammatory Phenotype in the Endometrial Niche in Endometriosis [Data set]. </a:t>
            </a:r>
            <a:r>
              <a:rPr lang="en-US" u="sng"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hlinkClick r:id="rId14"/>
              </a:rPr>
              <a:t>https://pmc.ncbi.nlm.nih.gov/articles/PMC4939744/</a:t>
            </a: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Zhao L, Gu C, Ye M, Zhang Z, Li L, Fan W, Meng Y. (2018). Integration analysis of microRNA and mRNA paired expression profiling identifies deregulated microRNA-transcription factor-gene regulatory networks in ovarian endometriosis [Data set]. </a:t>
            </a:r>
            <a:r>
              <a:rPr lang="en-US" u="sng"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hlinkClick r:id="rId15"/>
              </a:rPr>
              <a:t>https://pmc.ncbi.nlm.nih.gov/articles/PMC5776778/</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Slikker</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W Jr. (2018). Biomarkers and their impact on precision medicine.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6"/>
              </a:rPr>
              <a:t>https://pmc.ncbi.nlm.nih.gov/articles/PMC5813864/</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Chen, X., Cheng, L., Cheng, M. </a:t>
            </a:r>
            <a:r>
              <a:rPr lang="en-US" i="1" kern="100" dirty="0">
                <a:effectLst/>
                <a:latin typeface="Times New Roman" panose="02020603050405020304" pitchFamily="18" charset="0"/>
                <a:ea typeface="Aptos" panose="020B0004020202020204" pitchFamily="34" charset="0"/>
                <a:cs typeface="Times New Roman" panose="02020603050405020304" pitchFamily="18" charset="0"/>
              </a:rPr>
              <a:t>et al</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.(2026) Identifying Predictive Biomarkers and Immune Infiltration Features in Endometriosis.</a:t>
            </a: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7"/>
              </a:rPr>
              <a:t>https://link.springer.com/article/10.1007/s43032-026-02081-z</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Bae SJ, Jo Y, Cho MK, Jin JS, Kim JY, Shim J, Kim YH, Park JK, Ryu D, Lee HJ, Joo J, Ha KT. (2022). Identification and analysis of novel endometriosis biomarkers </a:t>
            </a:r>
            <a:r>
              <a:rPr lang="en-US" i="1" kern="100" dirty="0">
                <a:effectLst/>
                <a:latin typeface="Times New Roman" panose="02020603050405020304" pitchFamily="18" charset="0"/>
                <a:ea typeface="Aptos" panose="020B0004020202020204" pitchFamily="34" charset="0"/>
                <a:cs typeface="Times New Roman" panose="02020603050405020304" pitchFamily="18" charset="0"/>
              </a:rPr>
              <a:t>via</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integrative bioinformatics.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8"/>
              </a:rPr>
              <a:t>https://pmc.ncbi.nlm.nih.gov/articles/PMC9630743/</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Lin A, Yin J, Cheng C, Yang Z, Yang H. (2018). Decreased expression of FOXA2 promotes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eutopic</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endometrial cell proliferation and migration in patients with endometriosis.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19"/>
              </a:rPr>
              <a:t>https://www.sciencedirect.com/science/article/pii/S1472648317306168</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indent="-342900">
              <a:spcAft>
                <a:spcPts val="800"/>
              </a:spcAft>
              <a:buFont typeface="+mj-lt"/>
              <a:buAutoNum type="arabicPeriod"/>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Giudice LC,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Oskotsky</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TT,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Falako</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S, Opoku-Anane J, Sirota M. (2023). Endometriosis in the era of precision medicine and impact on sexual and reproductive health across the lifespan and in diverse populations. </a:t>
            </a:r>
            <a:r>
              <a:rPr lang="en-US"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0"/>
              </a:rPr>
              <a:t>https://pmc.ncbi.nlm.nih.gov/articles/PMC10503213/</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cxnSp>
        <p:nvCxnSpPr>
          <p:cNvPr id="61" name="Straight Connector 60">
            <a:extLst>
              <a:ext uri="{FF2B5EF4-FFF2-40B4-BE49-F238E27FC236}">
                <a16:creationId xmlns:a16="http://schemas.microsoft.com/office/drawing/2014/main" id="{C500745F-8386-9286-BF1C-AFEEAC8DF2A3}"/>
              </a:ext>
            </a:extLst>
          </p:cNvPr>
          <p:cNvCxnSpPr>
            <a:cxnSpLocks/>
          </p:cNvCxnSpPr>
          <p:nvPr/>
        </p:nvCxnSpPr>
        <p:spPr>
          <a:xfrm>
            <a:off x="5940307" y="13396150"/>
            <a:ext cx="0" cy="1706702"/>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1033" name="TextBox 1032">
            <a:extLst>
              <a:ext uri="{FF2B5EF4-FFF2-40B4-BE49-F238E27FC236}">
                <a16:creationId xmlns:a16="http://schemas.microsoft.com/office/drawing/2014/main" id="{F50F181B-ED77-9CE8-3056-DCECC3435845}"/>
              </a:ext>
            </a:extLst>
          </p:cNvPr>
          <p:cNvSpPr txBox="1"/>
          <p:nvPr/>
        </p:nvSpPr>
        <p:spPr>
          <a:xfrm>
            <a:off x="26544125" y="16851618"/>
            <a:ext cx="9289714" cy="138499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This differential gene analysis has reveled 4 significant genes that may become potential actionable biomarkers, assisting precision medicine in endometriosis.</a:t>
            </a:r>
          </a:p>
        </p:txBody>
      </p:sp>
      <p:sp>
        <p:nvSpPr>
          <p:cNvPr id="1034" name="TextBox 1033">
            <a:extLst>
              <a:ext uri="{FF2B5EF4-FFF2-40B4-BE49-F238E27FC236}">
                <a16:creationId xmlns:a16="http://schemas.microsoft.com/office/drawing/2014/main" id="{D7234572-E73E-5755-9163-82EBA9CB31CF}"/>
              </a:ext>
            </a:extLst>
          </p:cNvPr>
          <p:cNvSpPr txBox="1"/>
          <p:nvPr/>
        </p:nvSpPr>
        <p:spPr>
          <a:xfrm>
            <a:off x="26446112" y="18993827"/>
            <a:ext cx="9385146" cy="1815882"/>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Next steps would include, using machine learning  models to validate findings on bigger data sets. Next, look these genes, looking at expression rates on all levels of omics. Then, wet lab experiments to test biomarkers.</a:t>
            </a:r>
          </a:p>
        </p:txBody>
      </p:sp>
      <p:sp>
        <p:nvSpPr>
          <p:cNvPr id="1035" name="TextBox 1034">
            <a:extLst>
              <a:ext uri="{FF2B5EF4-FFF2-40B4-BE49-F238E27FC236}">
                <a16:creationId xmlns:a16="http://schemas.microsoft.com/office/drawing/2014/main" id="{72305437-2C3A-8C1D-62E6-9995A3CFD3FE}"/>
              </a:ext>
            </a:extLst>
          </p:cNvPr>
          <p:cNvSpPr txBox="1"/>
          <p:nvPr/>
        </p:nvSpPr>
        <p:spPr>
          <a:xfrm>
            <a:off x="391061" y="23266776"/>
            <a:ext cx="9374031"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Hypothesis: There will be DEGs in both microarray and RNA- seq data sets</a:t>
            </a:r>
          </a:p>
        </p:txBody>
      </p:sp>
      <p:sp>
        <p:nvSpPr>
          <p:cNvPr id="1038" name="TextBox 1037">
            <a:extLst>
              <a:ext uri="{FF2B5EF4-FFF2-40B4-BE49-F238E27FC236}">
                <a16:creationId xmlns:a16="http://schemas.microsoft.com/office/drawing/2014/main" id="{F2C92EC1-4BF4-2B1B-0ADB-0976103EBB38}"/>
              </a:ext>
            </a:extLst>
          </p:cNvPr>
          <p:cNvSpPr txBox="1"/>
          <p:nvPr/>
        </p:nvSpPr>
        <p:spPr>
          <a:xfrm>
            <a:off x="267433" y="6409085"/>
            <a:ext cx="9399465" cy="7848302"/>
          </a:xfrm>
          <a:prstGeom prst="rect">
            <a:avLst/>
          </a:prstGeom>
          <a:noFill/>
        </p:spPr>
        <p:txBody>
          <a:bodyPr wrap="square" rtlCol="0">
            <a:spAutoFit/>
          </a:bodyPr>
          <a:lstStyle/>
          <a:p>
            <a:pPr marL="0" marR="0" algn="just">
              <a:spcAft>
                <a:spcPts val="800"/>
              </a:spcAft>
              <a:buNone/>
            </a:pP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Endometriosis is a long-term disease that has no known cause, and limited treatment option. The objective of this project was to identify differentially expressed genes (DEGs) that could potentially act as actionable biomarkers for endometriosis. In this project </a:t>
            </a:r>
            <a:r>
              <a:rPr lang="en-US" sz="28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t</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ranscriptomic data, sourced from Gene Expression Omnibus (NCBI GEO), using both microarray (GSE73622) and RNA sequencing (RNA-seq) (GSE105764) were analyzed using bioinformatics approaches to compare two related but distinct biological contrasts: ectopic vs.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eutopic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tissue (RNA-seq), and specific cells within those tissues, endometrial mesenchymal stem cells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eMSC</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and endometrial stromal fibroblasts (</a:t>
            </a:r>
            <a:r>
              <a:rPr lang="en-US" sz="28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eSF</a:t>
            </a:r>
            <a:r>
              <a:rPr lang="en-US" sz="2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in endometriosis vs. control (microarray). The two datasets operate at different levels, tissue level and cell level, so DEGs were analyzed independently. Differential expression was visualized using volcano plots and heatmaps. Pathway enrichment and protein-protein interaction (PPI) analyses were also performed. DEGs were then validated against known potential biomarkers for endometriosis.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040" name="Picture 1039">
            <a:extLst>
              <a:ext uri="{FF2B5EF4-FFF2-40B4-BE49-F238E27FC236}">
                <a16:creationId xmlns:a16="http://schemas.microsoft.com/office/drawing/2014/main" id="{5B74CEA7-F6D9-7DA6-A175-EDB758065D8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648561" y="13648684"/>
            <a:ext cx="6011417" cy="2003807"/>
          </a:xfrm>
          <a:prstGeom prst="rect">
            <a:avLst/>
          </a:prstGeom>
        </p:spPr>
      </p:pic>
      <p:cxnSp>
        <p:nvCxnSpPr>
          <p:cNvPr id="1043" name="Straight Connector 1042">
            <a:extLst>
              <a:ext uri="{FF2B5EF4-FFF2-40B4-BE49-F238E27FC236}">
                <a16:creationId xmlns:a16="http://schemas.microsoft.com/office/drawing/2014/main" id="{40B7509C-C9A4-BA89-1768-759DA80177CB}"/>
              </a:ext>
            </a:extLst>
          </p:cNvPr>
          <p:cNvCxnSpPr/>
          <p:nvPr/>
        </p:nvCxnSpPr>
        <p:spPr>
          <a:xfrm>
            <a:off x="6075334" y="13396150"/>
            <a:ext cx="0" cy="1569530"/>
          </a:xfrm>
          <a:prstGeom prst="line">
            <a:avLst/>
          </a:prstGeom>
          <a:ln>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sp>
        <p:nvSpPr>
          <p:cNvPr id="1044" name="TextBox 1043">
            <a:extLst>
              <a:ext uri="{FF2B5EF4-FFF2-40B4-BE49-F238E27FC236}">
                <a16:creationId xmlns:a16="http://schemas.microsoft.com/office/drawing/2014/main" id="{EDB924C8-C1C0-78C2-D912-5D8E0DE33FBC}"/>
              </a:ext>
            </a:extLst>
          </p:cNvPr>
          <p:cNvSpPr txBox="1"/>
          <p:nvPr/>
        </p:nvSpPr>
        <p:spPr>
          <a:xfrm>
            <a:off x="302074" y="28288032"/>
            <a:ext cx="9532051" cy="369332"/>
          </a:xfrm>
          <a:prstGeom prst="rect">
            <a:avLst/>
          </a:prstGeom>
          <a:noFill/>
        </p:spPr>
        <p:txBody>
          <a:bodyPr wrap="square" rtlCol="0">
            <a:spAutoFit/>
          </a:bodyPr>
          <a:lstStyle/>
          <a:p>
            <a:r>
              <a:rPr lang="en-US" b="1" dirty="0"/>
              <a:t>Figure 2. diagram of uterus showing Endometriosis effect. Figure 3. Bioinformatic visual</a:t>
            </a:r>
          </a:p>
        </p:txBody>
      </p:sp>
      <p:sp>
        <p:nvSpPr>
          <p:cNvPr id="12" name="TextBox 11">
            <a:extLst>
              <a:ext uri="{FF2B5EF4-FFF2-40B4-BE49-F238E27FC236}">
                <a16:creationId xmlns:a16="http://schemas.microsoft.com/office/drawing/2014/main" id="{48F2B9B9-AEAD-6D21-2977-6434D6261B5D}"/>
              </a:ext>
            </a:extLst>
          </p:cNvPr>
          <p:cNvSpPr txBox="1"/>
          <p:nvPr/>
        </p:nvSpPr>
        <p:spPr>
          <a:xfrm>
            <a:off x="8768463" y="13747113"/>
            <a:ext cx="1039889" cy="307777"/>
          </a:xfrm>
          <a:prstGeom prst="rect">
            <a:avLst/>
          </a:prstGeom>
          <a:noFill/>
        </p:spPr>
        <p:txBody>
          <a:bodyPr wrap="square" rtlCol="0">
            <a:spAutoFit/>
          </a:bodyPr>
          <a:lstStyle/>
          <a:p>
            <a:r>
              <a:rPr lang="en-US" sz="1400" dirty="0">
                <a:solidFill>
                  <a:schemeClr val="bg2">
                    <a:lumMod val="25000"/>
                  </a:schemeClr>
                </a:solidFill>
                <a:latin typeface="Aptos Mono" panose="020F0502020204030204" pitchFamily="49" charset="0"/>
              </a:rPr>
              <a:t>ATGCAG</a:t>
            </a:r>
          </a:p>
        </p:txBody>
      </p:sp>
      <p:sp>
        <p:nvSpPr>
          <p:cNvPr id="16" name="TextBox 15">
            <a:extLst>
              <a:ext uri="{FF2B5EF4-FFF2-40B4-BE49-F238E27FC236}">
                <a16:creationId xmlns:a16="http://schemas.microsoft.com/office/drawing/2014/main" id="{66CE262F-7620-797C-7AF6-7F1245275163}"/>
              </a:ext>
            </a:extLst>
          </p:cNvPr>
          <p:cNvSpPr txBox="1"/>
          <p:nvPr/>
        </p:nvSpPr>
        <p:spPr>
          <a:xfrm>
            <a:off x="291841" y="15314745"/>
            <a:ext cx="9588943" cy="369332"/>
          </a:xfrm>
          <a:prstGeom prst="rect">
            <a:avLst/>
          </a:prstGeom>
          <a:noFill/>
        </p:spPr>
        <p:txBody>
          <a:bodyPr wrap="square" rtlCol="0">
            <a:spAutoFit/>
          </a:bodyPr>
          <a:lstStyle/>
          <a:p>
            <a:r>
              <a:rPr lang="en-US" b="1" dirty="0"/>
              <a:t>Figure 1. (a) for microarray and (b) RNA-seq</a:t>
            </a:r>
          </a:p>
        </p:txBody>
      </p:sp>
    </p:spTree>
    <p:extLst>
      <p:ext uri="{BB962C8B-B14F-4D97-AF65-F5344CB8AC3E}">
        <p14:creationId xmlns:p14="http://schemas.microsoft.com/office/powerpoint/2010/main" val="25373522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3DD5B8D09FA67438F2AF050084E3D55" ma:contentTypeVersion="4" ma:contentTypeDescription="Create a new document." ma:contentTypeScope="" ma:versionID="053f3a3b531cb94a260d2773fb8c0055">
  <xsd:schema xmlns:xsd="http://www.w3.org/2001/XMLSchema" xmlns:xs="http://www.w3.org/2001/XMLSchema" xmlns:p="http://schemas.microsoft.com/office/2006/metadata/properties" xmlns:ns3="2fce8479-2c1b-461f-adbe-11d5cd104bfc" targetNamespace="http://schemas.microsoft.com/office/2006/metadata/properties" ma:root="true" ma:fieldsID="374e38a1e0d88828deddee445ea4517f" ns3:_="">
    <xsd:import namespace="2fce8479-2c1b-461f-adbe-11d5cd104bf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e8479-2c1b-461f-adbe-11d5cd104bf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8BD670-7AD0-4B18-8D80-867B2B188670}">
  <ds:schemaRefs>
    <ds:schemaRef ds:uri="http://www.w3.org/XML/1998/namespac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2fce8479-2c1b-461f-adbe-11d5cd104bfc"/>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3C226E9A-09E3-4524-81D3-52015DA3F8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ce8479-2c1b-461f-adbe-11d5cd104b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5F275C-964C-4B40-BDBE-3A3DF54FAB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 Boardroom</Template>
  <TotalTime>1310</TotalTime>
  <Words>1381</Words>
  <Application>Microsoft Office PowerPoint</Application>
  <PresentationFormat>Custom</PresentationFormat>
  <Paragraphs>74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Aptos Mono</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Bach, Amira</dc:creator>
  <cp:lastModifiedBy>Bach, Amira</cp:lastModifiedBy>
  <cp:revision>4</cp:revision>
  <dcterms:created xsi:type="dcterms:W3CDTF">2026-07-24T20:24:57Z</dcterms:created>
  <dcterms:modified xsi:type="dcterms:W3CDTF">2026-07-31T18:15:00Z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0x01010003DD5B8D09FA67438F2AF050084E3D55</vt:lpwstr>
  </property>
</Properties>
</file>